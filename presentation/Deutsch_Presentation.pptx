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as a simulation of a one-bit sensor. State that the main goal is to distinguish constant and balanced rules with one coherent oracle query per execution.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f as a hidden input-output rule. Faulty is defined by the assignment, not by a universal engineering rule. The question is about the class, not reconstructing the exact function.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first row and the third row as examples. Constant zero and constant one are both faulty. Identity and inverted identity are both working. There are exactly four functions on this one-bit domain.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is exact classification. One classical observation is compatible with either class, so two evaluations are required. Deutsch uses a coherent query. This is a query advantage, not a claim about wall-clock speed.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these stages in order. First build four known test oracles, then classify them using one shared algorithm. Independent oracle checks are separate from classification queries. Finally compare ideal theory with sampled results and study synthetic readout noise.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logical circuit architecture, not a physical sensor system. q0 is the input and q1 is the helper. X prepares the helper in one. H acts on both, then one oracle, then H only on q0, and q0 is measured. The helper is not the diagnostic output.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explanation intuitive. H creates the plus input and minus helper. Since X acting on the minus state changes its sign, the oracle encodes the function into phase. Equal function outputs give equal signs; different outputs give opposite signs. The final H distinguishes these cases deterministically in the ideal model. Entanglement is not required for this instance.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an oracle must be reversible. The target is changed by XOR rather than overwritten. For zero use identity, for one use X, for x use CNOT, and for inverted x use CNOT followed by X. q0 is always the input.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is an actual diagram from the project notebook for the balanced identity oracle. The upper input is measured. The boxed U_balanced_x is one oracle call. Aer uses 1024 ideal shots per oracle, seed 42 and optimisation level zero. The notebook is Colab compatible, but the recorded validation was local.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expected result occurred in all 1024 ideal shots. Explain that this is deterministic for the ideal circuit. Shots are repetitions: each shot has one query, so this four-function experiment has 4096 queries overall. The experiment cannot identify which constant rule or which balanced rule was used from the final bit alone.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sixteen basis mappings and four unitarity checks passed. The noise plot is a synthetic readout-only model: expected accuracy is one minus p. Gates remain ideal. The intervals are 95 percent Wilson binomial intervals. At p of one half the readout is uninformative. This is not calibrated hardware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solution and acknowledge the limitations. This is an educational property-testing model. Conventional sensors do not automatically provide coherent oracle access. No real hardware was run and no practical runtime speedup was demonstrated. Repetition can improve a noisy decision but uses more queries.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with: I used Deutsch’s algorithm to distinguish constant and balanced sensor rules with one oracle query per ideal execution. State the output mapping again. Invite questions. The links identify the implementation and authoritative references.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INTERNAL ASSESSMENT III • PROJECT PRESENTATION</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Sensor Fault Detection</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01</a:t>
            </a:r>
          </a:p>
        </p:txBody>
      </p:sp>
      <p:sp>
        <p:nvSpPr>
          <p:cNvPr id="7" name="TextBox 6"/>
          <p:cNvSpPr txBox="1"/>
          <p:nvPr/>
        </p:nvSpPr>
        <p:spPr>
          <a:xfrm>
            <a:off x="594360" y="1600200"/>
            <a:ext cx="10881360" cy="1005840"/>
          </a:xfrm>
          <a:prstGeom prst="rect">
            <a:avLst/>
          </a:prstGeom>
          <a:noFill/>
        </p:spPr>
        <p:txBody>
          <a:bodyPr wrap="square">
            <a:spAutoFit/>
          </a:bodyPr>
          <a:lstStyle/>
          <a:p>
            <a:pPr>
              <a:spcAft>
                <a:spcPts val="1000"/>
              </a:spcAft>
              <a:defRPr sz="3000" b="1">
                <a:solidFill>
                  <a:srgbClr val="15243B"/>
                </a:solidFill>
                <a:latin typeface="Aptos"/>
              </a:defRPr>
            </a:pPr>
            <a:r>
              <a:t>One sensor rule. Two possible diagnoses.</a:t>
            </a:r>
          </a:p>
          <a:p>
            <a:pPr>
              <a:spcAft>
                <a:spcPts val="1000"/>
              </a:spcAft>
              <a:defRPr sz="3000" b="1">
                <a:solidFill>
                  <a:srgbClr val="15243B"/>
                </a:solidFill>
                <a:latin typeface="Aptos"/>
              </a:defRPr>
            </a:pPr>
            <a:r>
              <a:t>One quantum oracle query per execution.</a:t>
            </a:r>
          </a:p>
        </p:txBody>
      </p:sp>
      <p:sp>
        <p:nvSpPr>
          <p:cNvPr id="8" name="Rounded Rectangle 7"/>
          <p:cNvSpPr/>
          <p:nvPr/>
        </p:nvSpPr>
        <p:spPr>
          <a:xfrm>
            <a:off x="594360" y="3063240"/>
            <a:ext cx="534924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3227832"/>
            <a:ext cx="4946903" cy="457200"/>
          </a:xfrm>
          <a:prstGeom prst="rect">
            <a:avLst/>
          </a:prstGeom>
          <a:noFill/>
        </p:spPr>
        <p:txBody>
          <a:bodyPr wrap="square">
            <a:spAutoFit/>
          </a:bodyPr>
          <a:lstStyle/>
          <a:p>
            <a:pPr>
              <a:spcAft>
                <a:spcPts val="1000"/>
              </a:spcAft>
              <a:defRPr sz="2100" b="1">
                <a:solidFill>
                  <a:srgbClr val="2563EB"/>
                </a:solidFill>
                <a:latin typeface="Aptos"/>
              </a:defRPr>
            </a:pPr>
            <a:r>
              <a:t>CONSTANT → FAULTY</a:t>
            </a:r>
          </a:p>
        </p:txBody>
      </p:sp>
      <p:sp>
        <p:nvSpPr>
          <p:cNvPr id="10" name="TextBox 9"/>
          <p:cNvSpPr txBox="1"/>
          <p:nvPr/>
        </p:nvSpPr>
        <p:spPr>
          <a:xfrm>
            <a:off x="795528" y="3886200"/>
            <a:ext cx="4946903" cy="1115568"/>
          </a:xfrm>
          <a:prstGeom prst="rect">
            <a:avLst/>
          </a:prstGeom>
          <a:noFill/>
        </p:spPr>
        <p:txBody>
          <a:bodyPr wrap="square">
            <a:spAutoFit/>
          </a:bodyPr>
          <a:lstStyle/>
          <a:p>
            <a:pPr>
              <a:spcAft>
                <a:spcPts val="1000"/>
              </a:spcAft>
              <a:defRPr sz="2000" b="0">
                <a:solidFill>
                  <a:srgbClr val="15243B"/>
                </a:solidFill>
                <a:latin typeface="Aptos"/>
              </a:defRPr>
            </a:pPr>
            <a:r>
              <a:t>Both inputs produce the same output.</a:t>
            </a:r>
          </a:p>
        </p:txBody>
      </p:sp>
      <p:sp>
        <p:nvSpPr>
          <p:cNvPr id="11" name="Rounded Rectangle 10"/>
          <p:cNvSpPr/>
          <p:nvPr/>
        </p:nvSpPr>
        <p:spPr>
          <a:xfrm>
            <a:off x="6199632" y="3063240"/>
            <a:ext cx="534924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227832"/>
            <a:ext cx="4946903" cy="457200"/>
          </a:xfrm>
          <a:prstGeom prst="rect">
            <a:avLst/>
          </a:prstGeom>
          <a:noFill/>
        </p:spPr>
        <p:txBody>
          <a:bodyPr wrap="square">
            <a:spAutoFit/>
          </a:bodyPr>
          <a:lstStyle/>
          <a:p>
            <a:pPr>
              <a:spcAft>
                <a:spcPts val="1000"/>
              </a:spcAft>
              <a:defRPr sz="2100" b="1">
                <a:solidFill>
                  <a:srgbClr val="087F8C"/>
                </a:solidFill>
                <a:latin typeface="Aptos"/>
              </a:defRPr>
            </a:pPr>
            <a:r>
              <a:t>BALANCED → WORKING</a:t>
            </a:r>
          </a:p>
        </p:txBody>
      </p:sp>
      <p:sp>
        <p:nvSpPr>
          <p:cNvPr id="13" name="TextBox 12"/>
          <p:cNvSpPr txBox="1"/>
          <p:nvPr/>
        </p:nvSpPr>
        <p:spPr>
          <a:xfrm>
            <a:off x="6400800" y="3886200"/>
            <a:ext cx="4946903" cy="1115568"/>
          </a:xfrm>
          <a:prstGeom prst="rect">
            <a:avLst/>
          </a:prstGeom>
          <a:noFill/>
        </p:spPr>
        <p:txBody>
          <a:bodyPr wrap="square">
            <a:spAutoFit/>
          </a:bodyPr>
          <a:lstStyle/>
          <a:p>
            <a:pPr>
              <a:spcAft>
                <a:spcPts val="1000"/>
              </a:spcAft>
              <a:defRPr sz="2000" b="0">
                <a:solidFill>
                  <a:srgbClr val="15243B"/>
                </a:solidFill>
                <a:latin typeface="Aptos"/>
              </a:defRPr>
            </a:pPr>
            <a:r>
              <a:t>The two inputs produce different outputs.</a:t>
            </a:r>
          </a:p>
        </p:txBody>
      </p:sp>
      <p:sp>
        <p:nvSpPr>
          <p:cNvPr id="14" name="TextBox 13"/>
          <p:cNvSpPr txBox="1"/>
          <p:nvPr/>
        </p:nvSpPr>
        <p:spPr>
          <a:xfrm>
            <a:off x="640080" y="5486400"/>
            <a:ext cx="10881360" cy="594360"/>
          </a:xfrm>
          <a:prstGeom prst="rect">
            <a:avLst/>
          </a:prstGeom>
          <a:noFill/>
        </p:spPr>
        <p:txBody>
          <a:bodyPr wrap="square">
            <a:spAutoFit/>
          </a:bodyPr>
          <a:lstStyle/>
          <a:p>
            <a:pPr>
              <a:spcAft>
                <a:spcPts val="1000"/>
              </a:spcAft>
              <a:defRPr sz="1900" b="0">
                <a:solidFill>
                  <a:srgbClr val="526176"/>
                </a:solidFill>
                <a:latin typeface="Aptos"/>
              </a:defRPr>
            </a:pPr>
            <a:r>
              <a:t>Deutsch’s Algorithm  |  Qiskit + Aer  |  Colab-compatible notebook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DEUTSCH’S ALGORITHM</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1. Problem statement (PS)</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02</a:t>
            </a:r>
          </a:p>
        </p:txBody>
      </p:sp>
      <p:sp>
        <p:nvSpPr>
          <p:cNvPr id="7" name="Rounded Rectangle 6"/>
          <p:cNvSpPr/>
          <p:nvPr/>
        </p:nvSpPr>
        <p:spPr>
          <a:xfrm>
            <a:off x="594360" y="1737360"/>
            <a:ext cx="699516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01952"/>
            <a:ext cx="6592824" cy="457200"/>
          </a:xfrm>
          <a:prstGeom prst="rect">
            <a:avLst/>
          </a:prstGeom>
          <a:noFill/>
        </p:spPr>
        <p:txBody>
          <a:bodyPr wrap="square">
            <a:spAutoFit/>
          </a:bodyPr>
          <a:lstStyle/>
          <a:p>
            <a:pPr>
              <a:spcAft>
                <a:spcPts val="1000"/>
              </a:spcAft>
              <a:defRPr sz="2100" b="1">
                <a:solidFill>
                  <a:srgbClr val="2563EB"/>
                </a:solidFill>
                <a:latin typeface="Aptos"/>
              </a:defRPr>
            </a:pPr>
            <a:r>
              <a:t>The task</a:t>
            </a:r>
          </a:p>
        </p:txBody>
      </p:sp>
      <p:sp>
        <p:nvSpPr>
          <p:cNvPr id="9" name="TextBox 8"/>
          <p:cNvSpPr txBox="1"/>
          <p:nvPr/>
        </p:nvSpPr>
        <p:spPr>
          <a:xfrm>
            <a:off x="795528" y="2560320"/>
            <a:ext cx="6592824" cy="2441448"/>
          </a:xfrm>
          <a:prstGeom prst="rect">
            <a:avLst/>
          </a:prstGeom>
          <a:noFill/>
        </p:spPr>
        <p:txBody>
          <a:bodyPr wrap="square">
            <a:spAutoFit/>
          </a:bodyPr>
          <a:lstStyle/>
          <a:p>
            <a:pPr>
              <a:spcAft>
                <a:spcPts val="1000"/>
              </a:spcAft>
              <a:defRPr sz="2000" b="0">
                <a:solidFill>
                  <a:srgbClr val="15243B"/>
                </a:solidFill>
                <a:latin typeface="Aptos"/>
              </a:defRPr>
            </a:pPr>
            <a:r>
              <a:t>A single-bit sensor follows a hidden rule f.</a:t>
            </a:r>
          </a:p>
          <a:p>
            <a:pPr>
              <a:spcAft>
                <a:spcPts val="1000"/>
              </a:spcAft>
              <a:defRPr sz="2000" b="0">
                <a:solidFill>
                  <a:srgbClr val="15243B"/>
                </a:solidFill>
                <a:latin typeface="Aptos"/>
              </a:defRPr>
            </a:pPr>
            <a:r>
              <a:t>Input: 0 or 1. Output: 0 or 1.</a:t>
            </a:r>
          </a:p>
          <a:p>
            <a:pPr>
              <a:spcAft>
                <a:spcPts val="1000"/>
              </a:spcAft>
              <a:defRPr sz="2000" b="0">
                <a:solidFill>
                  <a:srgbClr val="15243B"/>
                </a:solidFill>
                <a:latin typeface="Aptos"/>
              </a:defRPr>
            </a:pPr>
            <a:r>
              <a:t>Determine whether f is constant or balanced.</a:t>
            </a:r>
          </a:p>
          <a:p>
            <a:pPr>
              <a:spcAft>
                <a:spcPts val="1000"/>
              </a:spcAft>
              <a:defRPr sz="2000" b="0">
                <a:solidFill>
                  <a:srgbClr val="15243B"/>
                </a:solidFill>
                <a:latin typeface="Aptos"/>
              </a:defRPr>
            </a:pPr>
            <a:r>
              <a:t>Classify each rule with one quantum query.</a:t>
            </a:r>
          </a:p>
        </p:txBody>
      </p:sp>
      <p:sp>
        <p:nvSpPr>
          <p:cNvPr id="10" name="Rounded Rectangle 9"/>
          <p:cNvSpPr/>
          <p:nvPr/>
        </p:nvSpPr>
        <p:spPr>
          <a:xfrm>
            <a:off x="7863840" y="1737360"/>
            <a:ext cx="370332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1901952"/>
            <a:ext cx="3300984" cy="457200"/>
          </a:xfrm>
          <a:prstGeom prst="rect">
            <a:avLst/>
          </a:prstGeom>
          <a:noFill/>
        </p:spPr>
        <p:txBody>
          <a:bodyPr wrap="square">
            <a:spAutoFit/>
          </a:bodyPr>
          <a:lstStyle/>
          <a:p>
            <a:pPr>
              <a:spcAft>
                <a:spcPts val="1000"/>
              </a:spcAft>
              <a:defRPr sz="2100" b="1">
                <a:solidFill>
                  <a:srgbClr val="087F8C"/>
                </a:solidFill>
                <a:latin typeface="Aptos"/>
              </a:defRPr>
            </a:pPr>
            <a:r>
              <a:t>Decision rule</a:t>
            </a:r>
          </a:p>
        </p:txBody>
      </p:sp>
      <p:sp>
        <p:nvSpPr>
          <p:cNvPr id="12" name="TextBox 11"/>
          <p:cNvSpPr txBox="1"/>
          <p:nvPr/>
        </p:nvSpPr>
        <p:spPr>
          <a:xfrm>
            <a:off x="8065008" y="2560320"/>
            <a:ext cx="3300984" cy="2441448"/>
          </a:xfrm>
          <a:prstGeom prst="rect">
            <a:avLst/>
          </a:prstGeom>
          <a:noFill/>
        </p:spPr>
        <p:txBody>
          <a:bodyPr wrap="square">
            <a:spAutoFit/>
          </a:bodyPr>
          <a:lstStyle/>
          <a:p>
            <a:pPr>
              <a:spcAft>
                <a:spcPts val="1000"/>
              </a:spcAft>
              <a:defRPr sz="2000" b="0">
                <a:solidFill>
                  <a:srgbClr val="15243B"/>
                </a:solidFill>
                <a:latin typeface="Aptos"/>
              </a:defRPr>
            </a:pPr>
            <a:r>
              <a:t>f(0) = f(1) → Faulty</a:t>
            </a:r>
          </a:p>
          <a:p>
            <a:pPr>
              <a:spcAft>
                <a:spcPts val="1000"/>
              </a:spcAft>
              <a:defRPr sz="2000" b="0">
                <a:solidFill>
                  <a:srgbClr val="15243B"/>
                </a:solidFill>
                <a:latin typeface="Aptos"/>
              </a:defRPr>
            </a:pPr>
            <a:r>
              <a:t>f(0) ≠ f(1) → Working</a:t>
            </a:r>
          </a:p>
        </p:txBody>
      </p:sp>
      <p:sp>
        <p:nvSpPr>
          <p:cNvPr id="13" name="TextBox 12"/>
          <p:cNvSpPr txBox="1"/>
          <p:nvPr/>
        </p:nvSpPr>
        <p:spPr>
          <a:xfrm>
            <a:off x="685800" y="5440680"/>
            <a:ext cx="10698480" cy="594360"/>
          </a:xfrm>
          <a:prstGeom prst="rect">
            <a:avLst/>
          </a:prstGeom>
          <a:noFill/>
        </p:spPr>
        <p:txBody>
          <a:bodyPr wrap="square">
            <a:spAutoFit/>
          </a:bodyPr>
          <a:lstStyle/>
          <a:p>
            <a:pPr>
              <a:spcAft>
                <a:spcPts val="1000"/>
              </a:spcAft>
              <a:defRPr sz="2000" b="0">
                <a:solidFill>
                  <a:srgbClr val="526176"/>
                </a:solidFill>
                <a:latin typeface="Aptos"/>
              </a:defRPr>
            </a:pPr>
            <a:r>
              <a:t>Scope: a simulated sensor with coherent oracle access; no physical sensor is connected.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DEUTSCH’S ALGORITHM</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2. All four possible sensor rules</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03</a:t>
            </a:r>
          </a:p>
        </p:txBody>
      </p:sp>
      <p:graphicFrame>
        <p:nvGraphicFramePr>
          <p:cNvPr id="7" name="Table 6"/>
          <p:cNvGraphicFramePr>
            <a:graphicFrameLocks noGrp="1"/>
          </p:cNvGraphicFramePr>
          <p:nvPr/>
        </p:nvGraphicFramePr>
        <p:xfrm>
          <a:off x="548640" y="1783080"/>
          <a:ext cx="11064240" cy="338328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676656">
                <a:tc>
                  <a:txBody>
                    <a:bodyPr/>
                    <a:lstStyle/>
                    <a:p>
                      <a:pPr>
                        <a:defRPr sz="1900" b="1">
                          <a:solidFill>
                            <a:srgbClr val="FFFFFF"/>
                          </a:solidFill>
                          <a:latin typeface="Aptos"/>
                        </a:defRPr>
                      </a:pPr>
                      <a:r>
                        <a:t>Hidden rule</a:t>
                      </a:r>
                    </a:p>
                  </a:txBody>
                  <a:tcPr marL="109728" marR="91440" anchor="ctr">
                    <a:solidFill>
                      <a:srgbClr val="15243B"/>
                    </a:solidFill>
                  </a:tcPr>
                </a:tc>
                <a:tc>
                  <a:txBody>
                    <a:bodyPr/>
                    <a:lstStyle/>
                    <a:p>
                      <a:pPr>
                        <a:defRPr sz="1900" b="1">
                          <a:solidFill>
                            <a:srgbClr val="FFFFFF"/>
                          </a:solidFill>
                          <a:latin typeface="Aptos"/>
                        </a:defRPr>
                      </a:pPr>
                      <a:r>
                        <a:t>f(0)</a:t>
                      </a:r>
                    </a:p>
                  </a:txBody>
                  <a:tcPr marL="109728" marR="91440" anchor="ctr">
                    <a:solidFill>
                      <a:srgbClr val="15243B"/>
                    </a:solidFill>
                  </a:tcPr>
                </a:tc>
                <a:tc>
                  <a:txBody>
                    <a:bodyPr/>
                    <a:lstStyle/>
                    <a:p>
                      <a:pPr>
                        <a:defRPr sz="1900" b="1">
                          <a:solidFill>
                            <a:srgbClr val="FFFFFF"/>
                          </a:solidFill>
                          <a:latin typeface="Aptos"/>
                        </a:defRPr>
                      </a:pPr>
                      <a:r>
                        <a:t>f(1)</a:t>
                      </a:r>
                    </a:p>
                  </a:txBody>
                  <a:tcPr marL="109728" marR="91440" anchor="ctr">
                    <a:solidFill>
                      <a:srgbClr val="15243B"/>
                    </a:solidFill>
                  </a:tcPr>
                </a:tc>
                <a:tc>
                  <a:txBody>
                    <a:bodyPr/>
                    <a:lstStyle/>
                    <a:p>
                      <a:pPr>
                        <a:defRPr sz="1900" b="1">
                          <a:solidFill>
                            <a:srgbClr val="FFFFFF"/>
                          </a:solidFill>
                          <a:latin typeface="Aptos"/>
                        </a:defRPr>
                      </a:pPr>
                      <a:r>
                        <a:t>Class</a:t>
                      </a:r>
                    </a:p>
                  </a:txBody>
                  <a:tcPr marL="109728" marR="91440" anchor="ctr">
                    <a:solidFill>
                      <a:srgbClr val="15243B"/>
                    </a:solidFill>
                  </a:tcPr>
                </a:tc>
                <a:tc>
                  <a:txBody>
                    <a:bodyPr/>
                    <a:lstStyle/>
                    <a:p>
                      <a:pPr>
                        <a:defRPr sz="1900" b="1">
                          <a:solidFill>
                            <a:srgbClr val="FFFFFF"/>
                          </a:solidFill>
                          <a:latin typeface="Aptos"/>
                        </a:defRPr>
                      </a:pPr>
                      <a:r>
                        <a:t>Diagnosis</a:t>
                      </a:r>
                    </a:p>
                  </a:txBody>
                  <a:tcPr marL="109728" marR="91440" anchor="ctr">
                    <a:solidFill>
                      <a:srgbClr val="15243B"/>
                    </a:solidFill>
                  </a:tcPr>
                </a:tc>
              </a:tr>
              <a:tr h="676656">
                <a:tc>
                  <a:txBody>
                    <a:bodyPr/>
                    <a:lstStyle/>
                    <a:p>
                      <a:pPr>
                        <a:defRPr sz="1900" b="0">
                          <a:solidFill>
                            <a:srgbClr val="15243B"/>
                          </a:solidFill>
                          <a:latin typeface="Aptos"/>
                        </a:defRPr>
                      </a:pPr>
                      <a:r>
                        <a:t>Always 0</a:t>
                      </a:r>
                    </a:p>
                  </a:txBody>
                  <a:tcPr marL="109728" marR="91440" anchor="ctr">
                    <a:solidFill>
                      <a:srgbClr val="FFFFFF"/>
                    </a:solidFill>
                  </a:tcPr>
                </a:tc>
                <a:tc>
                  <a:txBody>
                    <a:bodyPr/>
                    <a:lstStyle/>
                    <a:p>
                      <a:pPr>
                        <a:defRPr sz="1900" b="0">
                          <a:solidFill>
                            <a:srgbClr val="15243B"/>
                          </a:solidFill>
                          <a:latin typeface="Aptos"/>
                        </a:defRPr>
                      </a:pPr>
                      <a:r>
                        <a:t>0</a:t>
                      </a:r>
                    </a:p>
                  </a:txBody>
                  <a:tcPr marL="109728" marR="91440" anchor="ctr">
                    <a:solidFill>
                      <a:srgbClr val="FFFFFF"/>
                    </a:solidFill>
                  </a:tcPr>
                </a:tc>
                <a:tc>
                  <a:txBody>
                    <a:bodyPr/>
                    <a:lstStyle/>
                    <a:p>
                      <a:pPr>
                        <a:defRPr sz="1900" b="0">
                          <a:solidFill>
                            <a:srgbClr val="15243B"/>
                          </a:solidFill>
                          <a:latin typeface="Aptos"/>
                        </a:defRPr>
                      </a:pPr>
                      <a:r>
                        <a:t>0</a:t>
                      </a:r>
                    </a:p>
                  </a:txBody>
                  <a:tcPr marL="109728" marR="91440" anchor="ctr">
                    <a:solidFill>
                      <a:srgbClr val="FFFFFF"/>
                    </a:solidFill>
                  </a:tcPr>
                </a:tc>
                <a:tc>
                  <a:txBody>
                    <a:bodyPr/>
                    <a:lstStyle/>
                    <a:p>
                      <a:pPr>
                        <a:defRPr sz="1900" b="0">
                          <a:solidFill>
                            <a:srgbClr val="15243B"/>
                          </a:solidFill>
                          <a:latin typeface="Aptos"/>
                        </a:defRPr>
                      </a:pPr>
                      <a:r>
                        <a:t>Constant</a:t>
                      </a:r>
                    </a:p>
                  </a:txBody>
                  <a:tcPr marL="109728" marR="91440" anchor="ctr">
                    <a:solidFill>
                      <a:srgbClr val="FFFFFF"/>
                    </a:solidFill>
                  </a:tcPr>
                </a:tc>
                <a:tc>
                  <a:txBody>
                    <a:bodyPr/>
                    <a:lstStyle/>
                    <a:p>
                      <a:pPr>
                        <a:defRPr sz="1900" b="0">
                          <a:solidFill>
                            <a:srgbClr val="15243B"/>
                          </a:solidFill>
                          <a:latin typeface="Aptos"/>
                        </a:defRPr>
                      </a:pPr>
                      <a:r>
                        <a:t>Faulty</a:t>
                      </a:r>
                    </a:p>
                  </a:txBody>
                  <a:tcPr marL="109728" marR="91440" anchor="ctr">
                    <a:solidFill>
                      <a:srgbClr val="FFFFFF"/>
                    </a:solidFill>
                  </a:tcPr>
                </a:tc>
              </a:tr>
              <a:tr h="676656">
                <a:tc>
                  <a:txBody>
                    <a:bodyPr/>
                    <a:lstStyle/>
                    <a:p>
                      <a:pPr>
                        <a:defRPr sz="1900" b="0">
                          <a:solidFill>
                            <a:srgbClr val="15243B"/>
                          </a:solidFill>
                          <a:latin typeface="Aptos"/>
                        </a:defRPr>
                      </a:pPr>
                      <a:r>
                        <a:t>Always 1</a:t>
                      </a:r>
                    </a:p>
                  </a:txBody>
                  <a:tcPr marL="109728" marR="91440" anchor="ctr">
                    <a:solidFill>
                      <a:srgbClr val="EAF0FA"/>
                    </a:solidFill>
                  </a:tcPr>
                </a:tc>
                <a:tc>
                  <a:txBody>
                    <a:bodyPr/>
                    <a:lstStyle/>
                    <a:p>
                      <a:pPr>
                        <a:defRPr sz="1900" b="0">
                          <a:solidFill>
                            <a:srgbClr val="15243B"/>
                          </a:solidFill>
                          <a:latin typeface="Aptos"/>
                        </a:defRPr>
                      </a:pPr>
                      <a:r>
                        <a:t>1</a:t>
                      </a:r>
                    </a:p>
                  </a:txBody>
                  <a:tcPr marL="109728" marR="91440" anchor="ctr">
                    <a:solidFill>
                      <a:srgbClr val="EAF0FA"/>
                    </a:solidFill>
                  </a:tcPr>
                </a:tc>
                <a:tc>
                  <a:txBody>
                    <a:bodyPr/>
                    <a:lstStyle/>
                    <a:p>
                      <a:pPr>
                        <a:defRPr sz="1900" b="0">
                          <a:solidFill>
                            <a:srgbClr val="15243B"/>
                          </a:solidFill>
                          <a:latin typeface="Aptos"/>
                        </a:defRPr>
                      </a:pPr>
                      <a:r>
                        <a:t>1</a:t>
                      </a:r>
                    </a:p>
                  </a:txBody>
                  <a:tcPr marL="109728" marR="91440" anchor="ctr">
                    <a:solidFill>
                      <a:srgbClr val="EAF0FA"/>
                    </a:solidFill>
                  </a:tcPr>
                </a:tc>
                <a:tc>
                  <a:txBody>
                    <a:bodyPr/>
                    <a:lstStyle/>
                    <a:p>
                      <a:pPr>
                        <a:defRPr sz="1900" b="0">
                          <a:solidFill>
                            <a:srgbClr val="15243B"/>
                          </a:solidFill>
                          <a:latin typeface="Aptos"/>
                        </a:defRPr>
                      </a:pPr>
                      <a:r>
                        <a:t>Constant</a:t>
                      </a:r>
                    </a:p>
                  </a:txBody>
                  <a:tcPr marL="109728" marR="91440" anchor="ctr">
                    <a:solidFill>
                      <a:srgbClr val="EAF0FA"/>
                    </a:solidFill>
                  </a:tcPr>
                </a:tc>
                <a:tc>
                  <a:txBody>
                    <a:bodyPr/>
                    <a:lstStyle/>
                    <a:p>
                      <a:pPr>
                        <a:defRPr sz="1900" b="0">
                          <a:solidFill>
                            <a:srgbClr val="15243B"/>
                          </a:solidFill>
                          <a:latin typeface="Aptos"/>
                        </a:defRPr>
                      </a:pPr>
                      <a:r>
                        <a:t>Faulty</a:t>
                      </a:r>
                    </a:p>
                  </a:txBody>
                  <a:tcPr marL="109728" marR="91440" anchor="ctr">
                    <a:solidFill>
                      <a:srgbClr val="EAF0FA"/>
                    </a:solidFill>
                  </a:tcPr>
                </a:tc>
              </a:tr>
              <a:tr h="676656">
                <a:tc>
                  <a:txBody>
                    <a:bodyPr/>
                    <a:lstStyle/>
                    <a:p>
                      <a:pPr>
                        <a:defRPr sz="1900" b="0">
                          <a:solidFill>
                            <a:srgbClr val="15243B"/>
                          </a:solidFill>
                          <a:latin typeface="Aptos"/>
                        </a:defRPr>
                      </a:pPr>
                      <a:r>
                        <a:t>Return input x</a:t>
                      </a:r>
                    </a:p>
                  </a:txBody>
                  <a:tcPr marL="109728" marR="91440" anchor="ctr">
                    <a:solidFill>
                      <a:srgbClr val="FFFFFF"/>
                    </a:solidFill>
                  </a:tcPr>
                </a:tc>
                <a:tc>
                  <a:txBody>
                    <a:bodyPr/>
                    <a:lstStyle/>
                    <a:p>
                      <a:pPr>
                        <a:defRPr sz="1900" b="0">
                          <a:solidFill>
                            <a:srgbClr val="15243B"/>
                          </a:solidFill>
                          <a:latin typeface="Aptos"/>
                        </a:defRPr>
                      </a:pPr>
                      <a:r>
                        <a:t>0</a:t>
                      </a:r>
                    </a:p>
                  </a:txBody>
                  <a:tcPr marL="109728" marR="91440" anchor="ctr">
                    <a:solidFill>
                      <a:srgbClr val="FFFFFF"/>
                    </a:solidFill>
                  </a:tcPr>
                </a:tc>
                <a:tc>
                  <a:txBody>
                    <a:bodyPr/>
                    <a:lstStyle/>
                    <a:p>
                      <a:pPr>
                        <a:defRPr sz="1900" b="0">
                          <a:solidFill>
                            <a:srgbClr val="15243B"/>
                          </a:solidFill>
                          <a:latin typeface="Aptos"/>
                        </a:defRPr>
                      </a:pPr>
                      <a:r>
                        <a:t>1</a:t>
                      </a:r>
                    </a:p>
                  </a:txBody>
                  <a:tcPr marL="109728" marR="91440" anchor="ctr">
                    <a:solidFill>
                      <a:srgbClr val="FFFFFF"/>
                    </a:solidFill>
                  </a:tcPr>
                </a:tc>
                <a:tc>
                  <a:txBody>
                    <a:bodyPr/>
                    <a:lstStyle/>
                    <a:p>
                      <a:pPr>
                        <a:defRPr sz="1900" b="0">
                          <a:solidFill>
                            <a:srgbClr val="15243B"/>
                          </a:solidFill>
                          <a:latin typeface="Aptos"/>
                        </a:defRPr>
                      </a:pPr>
                      <a:r>
                        <a:t>Balanced</a:t>
                      </a:r>
                    </a:p>
                  </a:txBody>
                  <a:tcPr marL="109728" marR="91440" anchor="ctr">
                    <a:solidFill>
                      <a:srgbClr val="FFFFFF"/>
                    </a:solidFill>
                  </a:tcPr>
                </a:tc>
                <a:tc>
                  <a:txBody>
                    <a:bodyPr/>
                    <a:lstStyle/>
                    <a:p>
                      <a:pPr>
                        <a:defRPr sz="1900" b="0">
                          <a:solidFill>
                            <a:srgbClr val="15243B"/>
                          </a:solidFill>
                          <a:latin typeface="Aptos"/>
                        </a:defRPr>
                      </a:pPr>
                      <a:r>
                        <a:t>Working</a:t>
                      </a:r>
                    </a:p>
                  </a:txBody>
                  <a:tcPr marL="109728" marR="91440" anchor="ctr">
                    <a:solidFill>
                      <a:srgbClr val="FFFFFF"/>
                    </a:solidFill>
                  </a:tcPr>
                </a:tc>
              </a:tr>
              <a:tr h="676656">
                <a:tc>
                  <a:txBody>
                    <a:bodyPr/>
                    <a:lstStyle/>
                    <a:p>
                      <a:pPr>
                        <a:defRPr sz="1900" b="0">
                          <a:solidFill>
                            <a:srgbClr val="15243B"/>
                          </a:solidFill>
                          <a:latin typeface="Aptos"/>
                        </a:defRPr>
                      </a:pPr>
                      <a:r>
                        <a:t>Invert input 1 XOR x</a:t>
                      </a:r>
                    </a:p>
                  </a:txBody>
                  <a:tcPr marL="109728" marR="91440" anchor="ctr">
                    <a:solidFill>
                      <a:srgbClr val="EAF0FA"/>
                    </a:solidFill>
                  </a:tcPr>
                </a:tc>
                <a:tc>
                  <a:txBody>
                    <a:bodyPr/>
                    <a:lstStyle/>
                    <a:p>
                      <a:pPr>
                        <a:defRPr sz="1900" b="0">
                          <a:solidFill>
                            <a:srgbClr val="15243B"/>
                          </a:solidFill>
                          <a:latin typeface="Aptos"/>
                        </a:defRPr>
                      </a:pPr>
                      <a:r>
                        <a:t>1</a:t>
                      </a:r>
                    </a:p>
                  </a:txBody>
                  <a:tcPr marL="109728" marR="91440" anchor="ctr">
                    <a:solidFill>
                      <a:srgbClr val="EAF0FA"/>
                    </a:solidFill>
                  </a:tcPr>
                </a:tc>
                <a:tc>
                  <a:txBody>
                    <a:bodyPr/>
                    <a:lstStyle/>
                    <a:p>
                      <a:pPr>
                        <a:defRPr sz="1900" b="0">
                          <a:solidFill>
                            <a:srgbClr val="15243B"/>
                          </a:solidFill>
                          <a:latin typeface="Aptos"/>
                        </a:defRPr>
                      </a:pPr>
                      <a:r>
                        <a:t>0</a:t>
                      </a:r>
                    </a:p>
                  </a:txBody>
                  <a:tcPr marL="109728" marR="91440" anchor="ctr">
                    <a:solidFill>
                      <a:srgbClr val="EAF0FA"/>
                    </a:solidFill>
                  </a:tcPr>
                </a:tc>
                <a:tc>
                  <a:txBody>
                    <a:bodyPr/>
                    <a:lstStyle/>
                    <a:p>
                      <a:pPr>
                        <a:defRPr sz="1900" b="0">
                          <a:solidFill>
                            <a:srgbClr val="15243B"/>
                          </a:solidFill>
                          <a:latin typeface="Aptos"/>
                        </a:defRPr>
                      </a:pPr>
                      <a:r>
                        <a:t>Balanced</a:t>
                      </a:r>
                    </a:p>
                  </a:txBody>
                  <a:tcPr marL="109728" marR="91440" anchor="ctr">
                    <a:solidFill>
                      <a:srgbClr val="EAF0FA"/>
                    </a:solidFill>
                  </a:tcPr>
                </a:tc>
                <a:tc>
                  <a:txBody>
                    <a:bodyPr/>
                    <a:lstStyle/>
                    <a:p>
                      <a:pPr>
                        <a:defRPr sz="1900" b="0">
                          <a:solidFill>
                            <a:srgbClr val="15243B"/>
                          </a:solidFill>
                          <a:latin typeface="Aptos"/>
                        </a:defRPr>
                      </a:pPr>
                      <a:r>
                        <a:t>Working</a:t>
                      </a:r>
                    </a:p>
                  </a:txBody>
                  <a:tcPr marL="109728" marR="91440" anchor="ctr">
                    <a:solidFill>
                      <a:srgbClr val="EAF0FA"/>
                    </a:solidFill>
                  </a:tcPr>
                </a:tc>
              </a:tr>
            </a:tbl>
          </a:graphicData>
        </a:graphic>
      </p:graphicFrame>
      <p:sp>
        <p:nvSpPr>
          <p:cNvPr id="8" name="TextBox 7"/>
          <p:cNvSpPr txBox="1"/>
          <p:nvPr/>
        </p:nvSpPr>
        <p:spPr>
          <a:xfrm>
            <a:off x="685800" y="5532120"/>
            <a:ext cx="10698480" cy="502920"/>
          </a:xfrm>
          <a:prstGeom prst="rect">
            <a:avLst/>
          </a:prstGeom>
          <a:noFill/>
        </p:spPr>
        <p:txBody>
          <a:bodyPr wrap="square">
            <a:spAutoFit/>
          </a:bodyPr>
          <a:lstStyle/>
          <a:p>
            <a:pPr>
              <a:spcAft>
                <a:spcPts val="1000"/>
              </a:spcAft>
              <a:defRPr sz="2200" b="1">
                <a:solidFill>
                  <a:srgbClr val="087F8C"/>
                </a:solidFill>
                <a:latin typeface="Aptos"/>
              </a:defRPr>
            </a:pPr>
            <a:r>
              <a:t>Required answer: the class of the function, not its exact identity.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DEUTSCH’S ALGORITHM</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3. Why use Deutsch’s algorithm?</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04</a:t>
            </a:r>
          </a:p>
        </p:txBody>
      </p:sp>
      <p:sp>
        <p:nvSpPr>
          <p:cNvPr id="7" name="Rounded Rectangle 6"/>
          <p:cNvSpPr/>
          <p:nvPr/>
        </p:nvSpPr>
        <p:spPr>
          <a:xfrm>
            <a:off x="594360" y="1737360"/>
            <a:ext cx="5349240" cy="3154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01952"/>
            <a:ext cx="4946903" cy="457200"/>
          </a:xfrm>
          <a:prstGeom prst="rect">
            <a:avLst/>
          </a:prstGeom>
          <a:noFill/>
        </p:spPr>
        <p:txBody>
          <a:bodyPr wrap="square">
            <a:spAutoFit/>
          </a:bodyPr>
          <a:lstStyle/>
          <a:p>
            <a:pPr>
              <a:spcAft>
                <a:spcPts val="1000"/>
              </a:spcAft>
              <a:defRPr sz="2100" b="1">
                <a:solidFill>
                  <a:srgbClr val="2563EB"/>
                </a:solidFill>
                <a:latin typeface="Aptos"/>
              </a:defRPr>
            </a:pPr>
            <a:r>
              <a:t>CLASSICAL EXACT METHOD</a:t>
            </a:r>
          </a:p>
        </p:txBody>
      </p:sp>
      <p:sp>
        <p:nvSpPr>
          <p:cNvPr id="9" name="TextBox 8"/>
          <p:cNvSpPr txBox="1"/>
          <p:nvPr/>
        </p:nvSpPr>
        <p:spPr>
          <a:xfrm>
            <a:off x="795528" y="2560320"/>
            <a:ext cx="4946903" cy="2258568"/>
          </a:xfrm>
          <a:prstGeom prst="rect">
            <a:avLst/>
          </a:prstGeom>
          <a:noFill/>
        </p:spPr>
        <p:txBody>
          <a:bodyPr wrap="square">
            <a:spAutoFit/>
          </a:bodyPr>
          <a:lstStyle/>
          <a:p>
            <a:pPr>
              <a:spcAft>
                <a:spcPts val="1000"/>
              </a:spcAft>
              <a:defRPr sz="2000" b="0">
                <a:solidFill>
                  <a:srgbClr val="15243B"/>
                </a:solidFill>
                <a:latin typeface="Aptos"/>
              </a:defRPr>
            </a:pPr>
            <a:r>
              <a:t>Evaluate f(0).</a:t>
            </a:r>
          </a:p>
          <a:p>
            <a:pPr>
              <a:spcAft>
                <a:spcPts val="1000"/>
              </a:spcAft>
              <a:defRPr sz="2000" b="0">
                <a:solidFill>
                  <a:srgbClr val="15243B"/>
                </a:solidFill>
                <a:latin typeface="Aptos"/>
              </a:defRPr>
            </a:pPr>
            <a:r>
              <a:t>Evaluate f(1).</a:t>
            </a:r>
          </a:p>
          <a:p>
            <a:pPr>
              <a:spcAft>
                <a:spcPts val="1000"/>
              </a:spcAft>
              <a:defRPr sz="2000" b="0">
                <a:solidFill>
                  <a:srgbClr val="15243B"/>
                </a:solidFill>
                <a:latin typeface="Aptos"/>
              </a:defRPr>
            </a:pPr>
            <a:r>
              <a:t>Compare the two outputs.</a:t>
            </a:r>
          </a:p>
          <a:p>
            <a:pPr>
              <a:spcAft>
                <a:spcPts val="1000"/>
              </a:spcAft>
              <a:defRPr sz="2000" b="0">
                <a:solidFill>
                  <a:srgbClr val="15243B"/>
                </a:solidFill>
                <a:latin typeface="Aptos"/>
              </a:defRPr>
            </a:pPr>
            <a:r>
              <a:t>Worst case: 2 oracle queries.</a:t>
            </a:r>
          </a:p>
        </p:txBody>
      </p:sp>
      <p:sp>
        <p:nvSpPr>
          <p:cNvPr id="10" name="Rounded Rectangle 9"/>
          <p:cNvSpPr/>
          <p:nvPr/>
        </p:nvSpPr>
        <p:spPr>
          <a:xfrm>
            <a:off x="6199632" y="1737360"/>
            <a:ext cx="5349240" cy="3154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01952"/>
            <a:ext cx="4946903" cy="457200"/>
          </a:xfrm>
          <a:prstGeom prst="rect">
            <a:avLst/>
          </a:prstGeom>
          <a:noFill/>
        </p:spPr>
        <p:txBody>
          <a:bodyPr wrap="square">
            <a:spAutoFit/>
          </a:bodyPr>
          <a:lstStyle/>
          <a:p>
            <a:pPr>
              <a:spcAft>
                <a:spcPts val="1000"/>
              </a:spcAft>
              <a:defRPr sz="2100" b="1">
                <a:solidFill>
                  <a:srgbClr val="087F8C"/>
                </a:solidFill>
                <a:latin typeface="Aptos"/>
              </a:defRPr>
            </a:pPr>
            <a:r>
              <a:t>DEUTSCH’S METHOD</a:t>
            </a:r>
          </a:p>
        </p:txBody>
      </p:sp>
      <p:sp>
        <p:nvSpPr>
          <p:cNvPr id="12" name="TextBox 11"/>
          <p:cNvSpPr txBox="1"/>
          <p:nvPr/>
        </p:nvSpPr>
        <p:spPr>
          <a:xfrm>
            <a:off x="6400800" y="2560320"/>
            <a:ext cx="4946903" cy="2258568"/>
          </a:xfrm>
          <a:prstGeom prst="rect">
            <a:avLst/>
          </a:prstGeom>
          <a:noFill/>
        </p:spPr>
        <p:txBody>
          <a:bodyPr wrap="square">
            <a:spAutoFit/>
          </a:bodyPr>
          <a:lstStyle/>
          <a:p>
            <a:pPr>
              <a:spcAft>
                <a:spcPts val="1000"/>
              </a:spcAft>
              <a:defRPr sz="2000" b="0">
                <a:solidFill>
                  <a:srgbClr val="15243B"/>
                </a:solidFill>
                <a:latin typeface="Aptos"/>
              </a:defRPr>
            </a:pPr>
            <a:r>
              <a:t>Prepare a quantum state.</a:t>
            </a:r>
          </a:p>
          <a:p>
            <a:pPr>
              <a:spcAft>
                <a:spcPts val="1000"/>
              </a:spcAft>
              <a:defRPr sz="2000" b="0">
                <a:solidFill>
                  <a:srgbClr val="15243B"/>
                </a:solidFill>
                <a:latin typeface="Aptos"/>
              </a:defRPr>
            </a:pPr>
            <a:r>
              <a:t>Query the oracle coherently.</a:t>
            </a:r>
          </a:p>
          <a:p>
            <a:pPr>
              <a:spcAft>
                <a:spcPts val="1000"/>
              </a:spcAft>
              <a:defRPr sz="2000" b="0">
                <a:solidFill>
                  <a:srgbClr val="15243B"/>
                </a:solidFill>
                <a:latin typeface="Aptos"/>
              </a:defRPr>
            </a:pPr>
            <a:r>
              <a:t>Interfere and measure the input.</a:t>
            </a:r>
          </a:p>
          <a:p>
            <a:pPr>
              <a:spcAft>
                <a:spcPts val="1000"/>
              </a:spcAft>
              <a:defRPr sz="2000" b="0">
                <a:solidFill>
                  <a:srgbClr val="15243B"/>
                </a:solidFill>
                <a:latin typeface="Aptos"/>
              </a:defRPr>
            </a:pPr>
            <a:r>
              <a:t>Ideal: 1 oracle query.</a:t>
            </a:r>
          </a:p>
        </p:txBody>
      </p:sp>
      <p:sp>
        <p:nvSpPr>
          <p:cNvPr id="13" name="Rounded Rectangle 12"/>
          <p:cNvSpPr/>
          <p:nvPr/>
        </p:nvSpPr>
        <p:spPr>
          <a:xfrm>
            <a:off x="640080" y="5303520"/>
            <a:ext cx="10881360" cy="594360"/>
          </a:xfrm>
          <a:prstGeom prst="roundRect">
            <a:avLst/>
          </a:prstGeom>
          <a:solidFill>
            <a:srgbClr val="E4E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394960"/>
            <a:ext cx="10424160" cy="411480"/>
          </a:xfrm>
          <a:prstGeom prst="rect">
            <a:avLst/>
          </a:prstGeom>
          <a:noFill/>
        </p:spPr>
        <p:txBody>
          <a:bodyPr wrap="square">
            <a:spAutoFit/>
          </a:bodyPr>
          <a:lstStyle/>
          <a:p>
            <a:pPr>
              <a:spcAft>
                <a:spcPts val="1000"/>
              </a:spcAft>
              <a:defRPr sz="2000" b="1">
                <a:solidFill>
                  <a:srgbClr val="15243B"/>
                </a:solidFill>
                <a:latin typeface="Aptos"/>
              </a:defRPr>
            </a:pPr>
            <a:r>
              <a:t>The advantage concerns oracle calls; simulator runtime is not the benchmark.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DEUTSCH’S ALGORITHM</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4. Methodology: from model to evidence</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05</a:t>
            </a:r>
          </a:p>
        </p:txBody>
      </p:sp>
      <p:sp>
        <p:nvSpPr>
          <p:cNvPr id="7" name="Rounded Rectangle 6"/>
          <p:cNvSpPr/>
          <p:nvPr/>
        </p:nvSpPr>
        <p:spPr>
          <a:xfrm>
            <a:off x="594360" y="2057400"/>
            <a:ext cx="2148840" cy="3063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67712"/>
            <a:ext cx="1645920" cy="640080"/>
          </a:xfrm>
          <a:prstGeom prst="rect">
            <a:avLst/>
          </a:prstGeom>
          <a:noFill/>
        </p:spPr>
        <p:txBody>
          <a:bodyPr wrap="square">
            <a:spAutoFit/>
          </a:bodyPr>
          <a:lstStyle/>
          <a:p>
            <a:pPr>
              <a:spcAft>
                <a:spcPts val="1000"/>
              </a:spcAft>
              <a:defRPr sz="3400" b="1">
                <a:solidFill>
                  <a:srgbClr val="087F8C"/>
                </a:solidFill>
                <a:latin typeface="Aptos"/>
              </a:defRPr>
            </a:pPr>
            <a:r>
              <a:t>01</a:t>
            </a:r>
          </a:p>
        </p:txBody>
      </p:sp>
      <p:sp>
        <p:nvSpPr>
          <p:cNvPr id="9" name="TextBox 8"/>
          <p:cNvSpPr txBox="1"/>
          <p:nvPr/>
        </p:nvSpPr>
        <p:spPr>
          <a:xfrm>
            <a:off x="777240" y="3108960"/>
            <a:ext cx="1783080" cy="457200"/>
          </a:xfrm>
          <a:prstGeom prst="rect">
            <a:avLst/>
          </a:prstGeom>
          <a:noFill/>
        </p:spPr>
        <p:txBody>
          <a:bodyPr wrap="square">
            <a:spAutoFit/>
          </a:bodyPr>
          <a:lstStyle/>
          <a:p>
            <a:pPr>
              <a:spcAft>
                <a:spcPts val="1000"/>
              </a:spcAft>
              <a:defRPr sz="1700" b="1">
                <a:solidFill>
                  <a:srgbClr val="2563EB"/>
                </a:solidFill>
                <a:latin typeface="Aptos"/>
              </a:defRPr>
            </a:pPr>
            <a:r>
              <a:t>MODEL</a:t>
            </a:r>
          </a:p>
        </p:txBody>
      </p:sp>
      <p:sp>
        <p:nvSpPr>
          <p:cNvPr id="10" name="TextBox 9"/>
          <p:cNvSpPr txBox="1"/>
          <p:nvPr/>
        </p:nvSpPr>
        <p:spPr>
          <a:xfrm>
            <a:off x="777240" y="3749039"/>
            <a:ext cx="1783080" cy="1097280"/>
          </a:xfrm>
          <a:prstGeom prst="rect">
            <a:avLst/>
          </a:prstGeom>
          <a:noFill/>
        </p:spPr>
        <p:txBody>
          <a:bodyPr wrap="square">
            <a:spAutoFit/>
          </a:bodyPr>
          <a:lstStyle/>
          <a:p>
            <a:pPr>
              <a:spcAft>
                <a:spcPts val="1000"/>
              </a:spcAft>
              <a:defRPr sz="1900" b="0">
                <a:solidFill>
                  <a:srgbClr val="15243B"/>
                </a:solidFill>
                <a:latin typeface="Aptos"/>
              </a:defRPr>
            </a:pPr>
            <a:r>
              <a:t>Define all four rules.</a:t>
            </a:r>
          </a:p>
        </p:txBody>
      </p:sp>
      <p:sp>
        <p:nvSpPr>
          <p:cNvPr id="11" name="Rounded Rectangle 10"/>
          <p:cNvSpPr/>
          <p:nvPr/>
        </p:nvSpPr>
        <p:spPr>
          <a:xfrm>
            <a:off x="2898648" y="2057400"/>
            <a:ext cx="2148840" cy="3063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81528" y="2267712"/>
            <a:ext cx="1645920" cy="640080"/>
          </a:xfrm>
          <a:prstGeom prst="rect">
            <a:avLst/>
          </a:prstGeom>
          <a:noFill/>
        </p:spPr>
        <p:txBody>
          <a:bodyPr wrap="square">
            <a:spAutoFit/>
          </a:bodyPr>
          <a:lstStyle/>
          <a:p>
            <a:pPr>
              <a:spcAft>
                <a:spcPts val="1000"/>
              </a:spcAft>
              <a:defRPr sz="3400" b="1">
                <a:solidFill>
                  <a:srgbClr val="087F8C"/>
                </a:solidFill>
                <a:latin typeface="Aptos"/>
              </a:defRPr>
            </a:pPr>
            <a:r>
              <a:t>02</a:t>
            </a:r>
          </a:p>
        </p:txBody>
      </p:sp>
      <p:sp>
        <p:nvSpPr>
          <p:cNvPr id="13" name="TextBox 12"/>
          <p:cNvSpPr txBox="1"/>
          <p:nvPr/>
        </p:nvSpPr>
        <p:spPr>
          <a:xfrm>
            <a:off x="3081528" y="3108960"/>
            <a:ext cx="1783080" cy="457200"/>
          </a:xfrm>
          <a:prstGeom prst="rect">
            <a:avLst/>
          </a:prstGeom>
          <a:noFill/>
        </p:spPr>
        <p:txBody>
          <a:bodyPr wrap="square">
            <a:spAutoFit/>
          </a:bodyPr>
          <a:lstStyle/>
          <a:p>
            <a:pPr>
              <a:spcAft>
                <a:spcPts val="1000"/>
              </a:spcAft>
              <a:defRPr sz="1700" b="1">
                <a:solidFill>
                  <a:srgbClr val="2563EB"/>
                </a:solidFill>
                <a:latin typeface="Aptos"/>
              </a:defRPr>
            </a:pPr>
            <a:r>
              <a:t>BUILD</a:t>
            </a:r>
          </a:p>
        </p:txBody>
      </p:sp>
      <p:sp>
        <p:nvSpPr>
          <p:cNvPr id="14" name="TextBox 13"/>
          <p:cNvSpPr txBox="1"/>
          <p:nvPr/>
        </p:nvSpPr>
        <p:spPr>
          <a:xfrm>
            <a:off x="3081528" y="3749039"/>
            <a:ext cx="1783080" cy="1097280"/>
          </a:xfrm>
          <a:prstGeom prst="rect">
            <a:avLst/>
          </a:prstGeom>
          <a:noFill/>
        </p:spPr>
        <p:txBody>
          <a:bodyPr wrap="square">
            <a:spAutoFit/>
          </a:bodyPr>
          <a:lstStyle/>
          <a:p>
            <a:pPr>
              <a:spcAft>
                <a:spcPts val="1000"/>
              </a:spcAft>
              <a:defRPr sz="1900" b="0">
                <a:solidFill>
                  <a:srgbClr val="15243B"/>
                </a:solidFill>
                <a:latin typeface="Aptos"/>
              </a:defRPr>
            </a:pPr>
            <a:r>
              <a:t>Construct reversible oracles.</a:t>
            </a:r>
          </a:p>
        </p:txBody>
      </p:sp>
      <p:sp>
        <p:nvSpPr>
          <p:cNvPr id="15" name="Rounded Rectangle 14"/>
          <p:cNvSpPr/>
          <p:nvPr/>
        </p:nvSpPr>
        <p:spPr>
          <a:xfrm>
            <a:off x="5202936" y="2057400"/>
            <a:ext cx="2148840" cy="3063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85816" y="2267712"/>
            <a:ext cx="1645920" cy="640080"/>
          </a:xfrm>
          <a:prstGeom prst="rect">
            <a:avLst/>
          </a:prstGeom>
          <a:noFill/>
        </p:spPr>
        <p:txBody>
          <a:bodyPr wrap="square">
            <a:spAutoFit/>
          </a:bodyPr>
          <a:lstStyle/>
          <a:p>
            <a:pPr>
              <a:spcAft>
                <a:spcPts val="1000"/>
              </a:spcAft>
              <a:defRPr sz="3400" b="1">
                <a:solidFill>
                  <a:srgbClr val="087F8C"/>
                </a:solidFill>
                <a:latin typeface="Aptos"/>
              </a:defRPr>
            </a:pPr>
            <a:r>
              <a:t>03</a:t>
            </a:r>
          </a:p>
        </p:txBody>
      </p:sp>
      <p:sp>
        <p:nvSpPr>
          <p:cNvPr id="17" name="TextBox 16"/>
          <p:cNvSpPr txBox="1"/>
          <p:nvPr/>
        </p:nvSpPr>
        <p:spPr>
          <a:xfrm>
            <a:off x="5385816" y="3108960"/>
            <a:ext cx="1783080" cy="457200"/>
          </a:xfrm>
          <a:prstGeom prst="rect">
            <a:avLst/>
          </a:prstGeom>
          <a:noFill/>
        </p:spPr>
        <p:txBody>
          <a:bodyPr wrap="square">
            <a:spAutoFit/>
          </a:bodyPr>
          <a:lstStyle/>
          <a:p>
            <a:pPr>
              <a:spcAft>
                <a:spcPts val="1000"/>
              </a:spcAft>
              <a:defRPr sz="1700" b="1">
                <a:solidFill>
                  <a:srgbClr val="2563EB"/>
                </a:solidFill>
                <a:latin typeface="Aptos"/>
              </a:defRPr>
            </a:pPr>
            <a:r>
              <a:t>VALIDATE</a:t>
            </a:r>
          </a:p>
        </p:txBody>
      </p:sp>
      <p:sp>
        <p:nvSpPr>
          <p:cNvPr id="18" name="TextBox 17"/>
          <p:cNvSpPr txBox="1"/>
          <p:nvPr/>
        </p:nvSpPr>
        <p:spPr>
          <a:xfrm>
            <a:off x="5385816" y="3749039"/>
            <a:ext cx="1783080" cy="1097280"/>
          </a:xfrm>
          <a:prstGeom prst="rect">
            <a:avLst/>
          </a:prstGeom>
          <a:noFill/>
        </p:spPr>
        <p:txBody>
          <a:bodyPr wrap="square">
            <a:spAutoFit/>
          </a:bodyPr>
          <a:lstStyle/>
          <a:p>
            <a:pPr>
              <a:spcAft>
                <a:spcPts val="1000"/>
              </a:spcAft>
              <a:defRPr sz="1900" b="0">
                <a:solidFill>
                  <a:srgbClr val="15243B"/>
                </a:solidFill>
                <a:latin typeface="Aptos"/>
              </a:defRPr>
            </a:pPr>
            <a:r>
              <a:t>Check truth mappings and unitarity.</a:t>
            </a:r>
          </a:p>
        </p:txBody>
      </p:sp>
      <p:sp>
        <p:nvSpPr>
          <p:cNvPr id="19" name="Rounded Rectangle 18"/>
          <p:cNvSpPr/>
          <p:nvPr/>
        </p:nvSpPr>
        <p:spPr>
          <a:xfrm>
            <a:off x="7507224" y="2057400"/>
            <a:ext cx="2148840" cy="3063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90104" y="2267712"/>
            <a:ext cx="1645920" cy="640080"/>
          </a:xfrm>
          <a:prstGeom prst="rect">
            <a:avLst/>
          </a:prstGeom>
          <a:noFill/>
        </p:spPr>
        <p:txBody>
          <a:bodyPr wrap="square">
            <a:spAutoFit/>
          </a:bodyPr>
          <a:lstStyle/>
          <a:p>
            <a:pPr>
              <a:spcAft>
                <a:spcPts val="1000"/>
              </a:spcAft>
              <a:defRPr sz="3400" b="1">
                <a:solidFill>
                  <a:srgbClr val="087F8C"/>
                </a:solidFill>
                <a:latin typeface="Aptos"/>
              </a:defRPr>
            </a:pPr>
            <a:r>
              <a:t>04</a:t>
            </a:r>
          </a:p>
        </p:txBody>
      </p:sp>
      <p:sp>
        <p:nvSpPr>
          <p:cNvPr id="21" name="TextBox 20"/>
          <p:cNvSpPr txBox="1"/>
          <p:nvPr/>
        </p:nvSpPr>
        <p:spPr>
          <a:xfrm>
            <a:off x="7690104" y="3108960"/>
            <a:ext cx="1783080" cy="457200"/>
          </a:xfrm>
          <a:prstGeom prst="rect">
            <a:avLst/>
          </a:prstGeom>
          <a:noFill/>
        </p:spPr>
        <p:txBody>
          <a:bodyPr wrap="square">
            <a:spAutoFit/>
          </a:bodyPr>
          <a:lstStyle/>
          <a:p>
            <a:pPr>
              <a:spcAft>
                <a:spcPts val="1000"/>
              </a:spcAft>
              <a:defRPr sz="1700" b="1">
                <a:solidFill>
                  <a:srgbClr val="2563EB"/>
                </a:solidFill>
                <a:latin typeface="Aptos"/>
              </a:defRPr>
            </a:pPr>
            <a:r>
              <a:t>CLASSIFY</a:t>
            </a:r>
          </a:p>
        </p:txBody>
      </p:sp>
      <p:sp>
        <p:nvSpPr>
          <p:cNvPr id="22" name="TextBox 21"/>
          <p:cNvSpPr txBox="1"/>
          <p:nvPr/>
        </p:nvSpPr>
        <p:spPr>
          <a:xfrm>
            <a:off x="7690104" y="3749039"/>
            <a:ext cx="1783080" cy="1097280"/>
          </a:xfrm>
          <a:prstGeom prst="rect">
            <a:avLst/>
          </a:prstGeom>
          <a:noFill/>
        </p:spPr>
        <p:txBody>
          <a:bodyPr wrap="square">
            <a:spAutoFit/>
          </a:bodyPr>
          <a:lstStyle/>
          <a:p>
            <a:pPr>
              <a:spcAft>
                <a:spcPts val="1000"/>
              </a:spcAft>
              <a:defRPr sz="1900" b="0">
                <a:solidFill>
                  <a:srgbClr val="15243B"/>
                </a:solidFill>
                <a:latin typeface="Aptos"/>
              </a:defRPr>
            </a:pPr>
            <a:r>
              <a:t>Run one-query Deutsch circuits.</a:t>
            </a:r>
          </a:p>
        </p:txBody>
      </p:sp>
      <p:sp>
        <p:nvSpPr>
          <p:cNvPr id="23" name="Rounded Rectangle 22"/>
          <p:cNvSpPr/>
          <p:nvPr/>
        </p:nvSpPr>
        <p:spPr>
          <a:xfrm>
            <a:off x="9811512" y="2057400"/>
            <a:ext cx="2148840" cy="3063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94392" y="2267712"/>
            <a:ext cx="1645920" cy="640080"/>
          </a:xfrm>
          <a:prstGeom prst="rect">
            <a:avLst/>
          </a:prstGeom>
          <a:noFill/>
        </p:spPr>
        <p:txBody>
          <a:bodyPr wrap="square">
            <a:spAutoFit/>
          </a:bodyPr>
          <a:lstStyle/>
          <a:p>
            <a:pPr>
              <a:spcAft>
                <a:spcPts val="1000"/>
              </a:spcAft>
              <a:defRPr sz="3400" b="1">
                <a:solidFill>
                  <a:srgbClr val="087F8C"/>
                </a:solidFill>
                <a:latin typeface="Aptos"/>
              </a:defRPr>
            </a:pPr>
            <a:r>
              <a:t>05</a:t>
            </a:r>
          </a:p>
        </p:txBody>
      </p:sp>
      <p:sp>
        <p:nvSpPr>
          <p:cNvPr id="25" name="TextBox 24"/>
          <p:cNvSpPr txBox="1"/>
          <p:nvPr/>
        </p:nvSpPr>
        <p:spPr>
          <a:xfrm>
            <a:off x="9994392" y="3108960"/>
            <a:ext cx="1783080" cy="457200"/>
          </a:xfrm>
          <a:prstGeom prst="rect">
            <a:avLst/>
          </a:prstGeom>
          <a:noFill/>
        </p:spPr>
        <p:txBody>
          <a:bodyPr wrap="square">
            <a:spAutoFit/>
          </a:bodyPr>
          <a:lstStyle/>
          <a:p>
            <a:pPr>
              <a:spcAft>
                <a:spcPts val="1000"/>
              </a:spcAft>
              <a:defRPr sz="1700" b="1">
                <a:solidFill>
                  <a:srgbClr val="2563EB"/>
                </a:solidFill>
                <a:latin typeface="Aptos"/>
              </a:defRPr>
            </a:pPr>
            <a:r>
              <a:t>ANALYSE</a:t>
            </a:r>
          </a:p>
        </p:txBody>
      </p:sp>
      <p:sp>
        <p:nvSpPr>
          <p:cNvPr id="26" name="TextBox 25"/>
          <p:cNvSpPr txBox="1"/>
          <p:nvPr/>
        </p:nvSpPr>
        <p:spPr>
          <a:xfrm>
            <a:off x="9994392" y="3749039"/>
            <a:ext cx="1783080" cy="1097280"/>
          </a:xfrm>
          <a:prstGeom prst="rect">
            <a:avLst/>
          </a:prstGeom>
          <a:noFill/>
        </p:spPr>
        <p:txBody>
          <a:bodyPr wrap="square">
            <a:spAutoFit/>
          </a:bodyPr>
          <a:lstStyle/>
          <a:p>
            <a:pPr>
              <a:spcAft>
                <a:spcPts val="1000"/>
              </a:spcAft>
              <a:defRPr sz="1900" b="0">
                <a:solidFill>
                  <a:srgbClr val="15243B"/>
                </a:solidFill>
                <a:latin typeface="Aptos"/>
              </a:defRPr>
            </a:pPr>
            <a:r>
              <a:t>Compare theory, counts and noise.</a:t>
            </a:r>
          </a:p>
        </p:txBody>
      </p:sp>
      <p:sp>
        <p:nvSpPr>
          <p:cNvPr id="27" name="TextBox 26"/>
          <p:cNvSpPr txBox="1"/>
          <p:nvPr/>
        </p:nvSpPr>
        <p:spPr>
          <a:xfrm>
            <a:off x="685800" y="5486400"/>
            <a:ext cx="10698480" cy="502920"/>
          </a:xfrm>
          <a:prstGeom prst="rect">
            <a:avLst/>
          </a:prstGeom>
          <a:noFill/>
        </p:spPr>
        <p:txBody>
          <a:bodyPr wrap="square">
            <a:spAutoFit/>
          </a:bodyPr>
          <a:lstStyle/>
          <a:p>
            <a:pPr>
              <a:spcAft>
                <a:spcPts val="1000"/>
              </a:spcAft>
              <a:defRPr sz="1900" b="0">
                <a:solidFill>
                  <a:srgbClr val="526176"/>
                </a:solidFill>
                <a:latin typeface="Aptos"/>
              </a:defRPr>
            </a:pPr>
            <a:r>
              <a:t>Reproducible experiment: fixed seeds, recorded versions, assertions and saved outputs.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DEUTSCH’S ALGORITHM</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5. Architecture: two qubits, one measured output</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06</a:t>
            </a:r>
          </a:p>
        </p:txBody>
      </p:sp>
      <p:sp>
        <p:nvSpPr>
          <p:cNvPr id="7" name="Rounded Rectangle 6"/>
          <p:cNvSpPr/>
          <p:nvPr/>
        </p:nvSpPr>
        <p:spPr>
          <a:xfrm>
            <a:off x="594360" y="1874519"/>
            <a:ext cx="201168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2057400"/>
            <a:ext cx="1810512" cy="457200"/>
          </a:xfrm>
          <a:prstGeom prst="rect">
            <a:avLst/>
          </a:prstGeom>
          <a:noFill/>
        </p:spPr>
        <p:txBody>
          <a:bodyPr wrap="square">
            <a:spAutoFit/>
          </a:bodyPr>
          <a:lstStyle/>
          <a:p>
            <a:pPr>
              <a:spcAft>
                <a:spcPts val="1000"/>
              </a:spcAft>
              <a:defRPr sz="1600" b="1">
                <a:solidFill>
                  <a:srgbClr val="087F8C"/>
                </a:solidFill>
                <a:latin typeface="Aptos"/>
              </a:defRPr>
            </a:pPr>
            <a:r>
              <a:t>PREPARE</a:t>
            </a:r>
          </a:p>
        </p:txBody>
      </p:sp>
      <p:sp>
        <p:nvSpPr>
          <p:cNvPr id="9" name="TextBox 8"/>
          <p:cNvSpPr txBox="1"/>
          <p:nvPr/>
        </p:nvSpPr>
        <p:spPr>
          <a:xfrm>
            <a:off x="731520" y="2697480"/>
            <a:ext cx="1755648" cy="914400"/>
          </a:xfrm>
          <a:prstGeom prst="rect">
            <a:avLst/>
          </a:prstGeom>
          <a:noFill/>
        </p:spPr>
        <p:txBody>
          <a:bodyPr wrap="square">
            <a:spAutoFit/>
          </a:bodyPr>
          <a:lstStyle/>
          <a:p>
            <a:pPr>
              <a:spcAft>
                <a:spcPts val="1000"/>
              </a:spcAft>
              <a:defRPr sz="2100" b="0">
                <a:solidFill>
                  <a:srgbClr val="15243B"/>
                </a:solidFill>
                <a:latin typeface="Aptos"/>
              </a:defRPr>
            </a:pPr>
            <a:r>
              <a:t>q0 = |0⟩</a:t>
            </a:r>
          </a:p>
          <a:p>
            <a:pPr>
              <a:spcAft>
                <a:spcPts val="1000"/>
              </a:spcAft>
              <a:defRPr sz="2100" b="0">
                <a:solidFill>
                  <a:srgbClr val="15243B"/>
                </a:solidFill>
                <a:latin typeface="Aptos"/>
              </a:defRPr>
            </a:pPr>
            <a:r>
              <a:t>q1 = |1⟩</a:t>
            </a:r>
          </a:p>
        </p:txBody>
      </p:sp>
      <p:sp>
        <p:nvSpPr>
          <p:cNvPr id="10" name="Chevron 9"/>
          <p:cNvSpPr/>
          <p:nvPr/>
        </p:nvSpPr>
        <p:spPr>
          <a:xfrm>
            <a:off x="2651760" y="2560320"/>
            <a:ext cx="210312" cy="320040"/>
          </a:xfrm>
          <a:prstGeom prst="chevron">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98648" y="1874519"/>
            <a:ext cx="201168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08376" y="2057400"/>
            <a:ext cx="1810512" cy="457200"/>
          </a:xfrm>
          <a:prstGeom prst="rect">
            <a:avLst/>
          </a:prstGeom>
          <a:noFill/>
        </p:spPr>
        <p:txBody>
          <a:bodyPr wrap="square">
            <a:spAutoFit/>
          </a:bodyPr>
          <a:lstStyle/>
          <a:p>
            <a:pPr>
              <a:spcAft>
                <a:spcPts val="1000"/>
              </a:spcAft>
              <a:defRPr sz="1600" b="1">
                <a:solidFill>
                  <a:srgbClr val="087F8C"/>
                </a:solidFill>
                <a:latin typeface="Aptos"/>
              </a:defRPr>
            </a:pPr>
            <a:r>
              <a:t>SUPERPOSE</a:t>
            </a:r>
          </a:p>
        </p:txBody>
      </p:sp>
      <p:sp>
        <p:nvSpPr>
          <p:cNvPr id="13" name="TextBox 12"/>
          <p:cNvSpPr txBox="1"/>
          <p:nvPr/>
        </p:nvSpPr>
        <p:spPr>
          <a:xfrm>
            <a:off x="3035808" y="2697480"/>
            <a:ext cx="1755648" cy="914400"/>
          </a:xfrm>
          <a:prstGeom prst="rect">
            <a:avLst/>
          </a:prstGeom>
          <a:noFill/>
        </p:spPr>
        <p:txBody>
          <a:bodyPr wrap="square">
            <a:spAutoFit/>
          </a:bodyPr>
          <a:lstStyle/>
          <a:p>
            <a:pPr>
              <a:spcAft>
                <a:spcPts val="1000"/>
              </a:spcAft>
              <a:defRPr sz="2100" b="0">
                <a:solidFill>
                  <a:srgbClr val="15243B"/>
                </a:solidFill>
                <a:latin typeface="Aptos"/>
              </a:defRPr>
            </a:pPr>
            <a:r>
              <a:t>H on q0</a:t>
            </a:r>
          </a:p>
          <a:p>
            <a:pPr>
              <a:spcAft>
                <a:spcPts val="1000"/>
              </a:spcAft>
              <a:defRPr sz="2100" b="0">
                <a:solidFill>
                  <a:srgbClr val="15243B"/>
                </a:solidFill>
                <a:latin typeface="Aptos"/>
              </a:defRPr>
            </a:pPr>
            <a:r>
              <a:t>H on q1</a:t>
            </a:r>
          </a:p>
        </p:txBody>
      </p:sp>
      <p:sp>
        <p:nvSpPr>
          <p:cNvPr id="14" name="Chevron 13"/>
          <p:cNvSpPr/>
          <p:nvPr/>
        </p:nvSpPr>
        <p:spPr>
          <a:xfrm>
            <a:off x="4956048" y="2560320"/>
            <a:ext cx="210312" cy="320040"/>
          </a:xfrm>
          <a:prstGeom prst="chevron">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02936" y="1874519"/>
            <a:ext cx="201168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12664" y="2057400"/>
            <a:ext cx="1810512" cy="457200"/>
          </a:xfrm>
          <a:prstGeom prst="rect">
            <a:avLst/>
          </a:prstGeom>
          <a:noFill/>
        </p:spPr>
        <p:txBody>
          <a:bodyPr wrap="square">
            <a:spAutoFit/>
          </a:bodyPr>
          <a:lstStyle/>
          <a:p>
            <a:pPr>
              <a:spcAft>
                <a:spcPts val="1000"/>
              </a:spcAft>
              <a:defRPr sz="1600" b="1">
                <a:solidFill>
                  <a:srgbClr val="087F8C"/>
                </a:solidFill>
                <a:latin typeface="Aptos"/>
              </a:defRPr>
            </a:pPr>
            <a:r>
              <a:t>ORACLE</a:t>
            </a:r>
          </a:p>
        </p:txBody>
      </p:sp>
      <p:sp>
        <p:nvSpPr>
          <p:cNvPr id="17" name="TextBox 16"/>
          <p:cNvSpPr txBox="1"/>
          <p:nvPr/>
        </p:nvSpPr>
        <p:spPr>
          <a:xfrm>
            <a:off x="5340096" y="2697480"/>
            <a:ext cx="1755648" cy="914400"/>
          </a:xfrm>
          <a:prstGeom prst="rect">
            <a:avLst/>
          </a:prstGeom>
          <a:noFill/>
        </p:spPr>
        <p:txBody>
          <a:bodyPr wrap="square">
            <a:spAutoFit/>
          </a:bodyPr>
          <a:lstStyle/>
          <a:p>
            <a:pPr>
              <a:spcAft>
                <a:spcPts val="1000"/>
              </a:spcAft>
              <a:defRPr sz="2100" b="0">
                <a:solidFill>
                  <a:srgbClr val="15243B"/>
                </a:solidFill>
                <a:latin typeface="Aptos"/>
              </a:defRPr>
            </a:pPr>
            <a:r>
              <a:t>One call</a:t>
            </a:r>
          </a:p>
          <a:p>
            <a:pPr>
              <a:spcAft>
                <a:spcPts val="1000"/>
              </a:spcAft>
              <a:defRPr sz="2100" b="0">
                <a:solidFill>
                  <a:srgbClr val="15243B"/>
                </a:solidFill>
                <a:latin typeface="Aptos"/>
              </a:defRPr>
            </a:pPr>
            <a:r>
              <a:t>to U_f</a:t>
            </a:r>
          </a:p>
        </p:txBody>
      </p:sp>
      <p:sp>
        <p:nvSpPr>
          <p:cNvPr id="18" name="Chevron 17"/>
          <p:cNvSpPr/>
          <p:nvPr/>
        </p:nvSpPr>
        <p:spPr>
          <a:xfrm>
            <a:off x="7260336" y="2560320"/>
            <a:ext cx="210312" cy="320040"/>
          </a:xfrm>
          <a:prstGeom prst="chevron">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07224" y="1874519"/>
            <a:ext cx="201168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16952" y="2057400"/>
            <a:ext cx="1810512" cy="457200"/>
          </a:xfrm>
          <a:prstGeom prst="rect">
            <a:avLst/>
          </a:prstGeom>
          <a:noFill/>
        </p:spPr>
        <p:txBody>
          <a:bodyPr wrap="square">
            <a:spAutoFit/>
          </a:bodyPr>
          <a:lstStyle/>
          <a:p>
            <a:pPr>
              <a:spcAft>
                <a:spcPts val="1000"/>
              </a:spcAft>
              <a:defRPr sz="1600" b="1">
                <a:solidFill>
                  <a:srgbClr val="087F8C"/>
                </a:solidFill>
                <a:latin typeface="Aptos"/>
              </a:defRPr>
            </a:pPr>
            <a:r>
              <a:t>INTERFERE</a:t>
            </a:r>
          </a:p>
        </p:txBody>
      </p:sp>
      <p:sp>
        <p:nvSpPr>
          <p:cNvPr id="21" name="TextBox 20"/>
          <p:cNvSpPr txBox="1"/>
          <p:nvPr/>
        </p:nvSpPr>
        <p:spPr>
          <a:xfrm>
            <a:off x="7644384" y="2697480"/>
            <a:ext cx="1755648" cy="914400"/>
          </a:xfrm>
          <a:prstGeom prst="rect">
            <a:avLst/>
          </a:prstGeom>
          <a:noFill/>
        </p:spPr>
        <p:txBody>
          <a:bodyPr wrap="square">
            <a:spAutoFit/>
          </a:bodyPr>
          <a:lstStyle/>
          <a:p>
            <a:pPr>
              <a:spcAft>
                <a:spcPts val="1000"/>
              </a:spcAft>
              <a:defRPr sz="2100" b="0">
                <a:solidFill>
                  <a:srgbClr val="15243B"/>
                </a:solidFill>
                <a:latin typeface="Aptos"/>
              </a:defRPr>
            </a:pPr>
            <a:r>
              <a:t>H on q0</a:t>
            </a:r>
          </a:p>
          <a:p>
            <a:pPr>
              <a:spcAft>
                <a:spcPts val="1000"/>
              </a:spcAft>
              <a:defRPr sz="2100" b="0">
                <a:solidFill>
                  <a:srgbClr val="15243B"/>
                </a:solidFill>
                <a:latin typeface="Aptos"/>
              </a:defRPr>
            </a:pPr>
            <a:r>
              <a:t>only</a:t>
            </a:r>
          </a:p>
        </p:txBody>
      </p:sp>
      <p:sp>
        <p:nvSpPr>
          <p:cNvPr id="22" name="Chevron 21"/>
          <p:cNvSpPr/>
          <p:nvPr/>
        </p:nvSpPr>
        <p:spPr>
          <a:xfrm>
            <a:off x="9564624" y="2560320"/>
            <a:ext cx="210312" cy="320040"/>
          </a:xfrm>
          <a:prstGeom prst="chevron">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11512" y="1874519"/>
            <a:ext cx="201168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21240" y="2057400"/>
            <a:ext cx="1810512" cy="457200"/>
          </a:xfrm>
          <a:prstGeom prst="rect">
            <a:avLst/>
          </a:prstGeom>
          <a:noFill/>
        </p:spPr>
        <p:txBody>
          <a:bodyPr wrap="square">
            <a:spAutoFit/>
          </a:bodyPr>
          <a:lstStyle/>
          <a:p>
            <a:pPr>
              <a:spcAft>
                <a:spcPts val="1000"/>
              </a:spcAft>
              <a:defRPr sz="1600" b="1">
                <a:solidFill>
                  <a:srgbClr val="087F8C"/>
                </a:solidFill>
                <a:latin typeface="Aptos"/>
              </a:defRPr>
            </a:pPr>
            <a:r>
              <a:t>MEASURE</a:t>
            </a:r>
          </a:p>
        </p:txBody>
      </p:sp>
      <p:sp>
        <p:nvSpPr>
          <p:cNvPr id="25" name="TextBox 24"/>
          <p:cNvSpPr txBox="1"/>
          <p:nvPr/>
        </p:nvSpPr>
        <p:spPr>
          <a:xfrm>
            <a:off x="9948672" y="2697480"/>
            <a:ext cx="1755648" cy="914400"/>
          </a:xfrm>
          <a:prstGeom prst="rect">
            <a:avLst/>
          </a:prstGeom>
          <a:noFill/>
        </p:spPr>
        <p:txBody>
          <a:bodyPr wrap="square">
            <a:spAutoFit/>
          </a:bodyPr>
          <a:lstStyle/>
          <a:p>
            <a:pPr>
              <a:spcAft>
                <a:spcPts val="1000"/>
              </a:spcAft>
              <a:defRPr sz="2100" b="0">
                <a:solidFill>
                  <a:srgbClr val="15243B"/>
                </a:solidFill>
                <a:latin typeface="Aptos"/>
              </a:defRPr>
            </a:pPr>
            <a:r>
              <a:t>q0 → c0</a:t>
            </a:r>
          </a:p>
          <a:p>
            <a:pPr>
              <a:spcAft>
                <a:spcPts val="1000"/>
              </a:spcAft>
              <a:defRPr sz="2100" b="0">
                <a:solidFill>
                  <a:srgbClr val="15243B"/>
                </a:solidFill>
                <a:latin typeface="Aptos"/>
              </a:defRPr>
            </a:pPr>
            <a:r>
              <a:t>0 or 1</a:t>
            </a:r>
          </a:p>
        </p:txBody>
      </p:sp>
      <p:sp>
        <p:nvSpPr>
          <p:cNvPr id="26" name="Rounded Rectangle 25"/>
          <p:cNvSpPr/>
          <p:nvPr/>
        </p:nvSpPr>
        <p:spPr>
          <a:xfrm>
            <a:off x="685800" y="4251960"/>
            <a:ext cx="52120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968" y="4416552"/>
            <a:ext cx="4809744" cy="457200"/>
          </a:xfrm>
          <a:prstGeom prst="rect">
            <a:avLst/>
          </a:prstGeom>
          <a:noFill/>
        </p:spPr>
        <p:txBody>
          <a:bodyPr wrap="square">
            <a:spAutoFit/>
          </a:bodyPr>
          <a:lstStyle/>
          <a:p>
            <a:pPr>
              <a:spcAft>
                <a:spcPts val="1000"/>
              </a:spcAft>
              <a:defRPr sz="2100" b="1">
                <a:solidFill>
                  <a:srgbClr val="2563EB"/>
                </a:solidFill>
                <a:latin typeface="Aptos"/>
              </a:defRPr>
            </a:pPr>
            <a:r>
              <a:t>RESULT 0</a:t>
            </a:r>
          </a:p>
        </p:txBody>
      </p:sp>
      <p:sp>
        <p:nvSpPr>
          <p:cNvPr id="28" name="TextBox 27"/>
          <p:cNvSpPr txBox="1"/>
          <p:nvPr/>
        </p:nvSpPr>
        <p:spPr>
          <a:xfrm>
            <a:off x="886968" y="5074920"/>
            <a:ext cx="4809744" cy="612647"/>
          </a:xfrm>
          <a:prstGeom prst="rect">
            <a:avLst/>
          </a:prstGeom>
          <a:noFill/>
        </p:spPr>
        <p:txBody>
          <a:bodyPr wrap="square">
            <a:spAutoFit/>
          </a:bodyPr>
          <a:lstStyle/>
          <a:p>
            <a:pPr>
              <a:spcAft>
                <a:spcPts val="1000"/>
              </a:spcAft>
              <a:defRPr sz="2000" b="0">
                <a:solidFill>
                  <a:srgbClr val="15243B"/>
                </a:solidFill>
                <a:latin typeface="Aptos"/>
              </a:defRPr>
            </a:pPr>
            <a:r>
              <a:t>Constant → faulty</a:t>
            </a:r>
          </a:p>
        </p:txBody>
      </p:sp>
      <p:sp>
        <p:nvSpPr>
          <p:cNvPr id="29" name="Rounded Rectangle 28"/>
          <p:cNvSpPr/>
          <p:nvPr/>
        </p:nvSpPr>
        <p:spPr>
          <a:xfrm>
            <a:off x="6217920" y="4251960"/>
            <a:ext cx="52120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416552"/>
            <a:ext cx="4809744" cy="457200"/>
          </a:xfrm>
          <a:prstGeom prst="rect">
            <a:avLst/>
          </a:prstGeom>
          <a:noFill/>
        </p:spPr>
        <p:txBody>
          <a:bodyPr wrap="square">
            <a:spAutoFit/>
          </a:bodyPr>
          <a:lstStyle/>
          <a:p>
            <a:pPr>
              <a:spcAft>
                <a:spcPts val="1000"/>
              </a:spcAft>
              <a:defRPr sz="2100" b="1">
                <a:solidFill>
                  <a:srgbClr val="087F8C"/>
                </a:solidFill>
                <a:latin typeface="Aptos"/>
              </a:defRPr>
            </a:pPr>
            <a:r>
              <a:t>RESULT 1</a:t>
            </a:r>
          </a:p>
        </p:txBody>
      </p:sp>
      <p:sp>
        <p:nvSpPr>
          <p:cNvPr id="31" name="TextBox 30"/>
          <p:cNvSpPr txBox="1"/>
          <p:nvPr/>
        </p:nvSpPr>
        <p:spPr>
          <a:xfrm>
            <a:off x="6419088" y="5074920"/>
            <a:ext cx="4809744" cy="612647"/>
          </a:xfrm>
          <a:prstGeom prst="rect">
            <a:avLst/>
          </a:prstGeom>
          <a:noFill/>
        </p:spPr>
        <p:txBody>
          <a:bodyPr wrap="square">
            <a:spAutoFit/>
          </a:bodyPr>
          <a:lstStyle/>
          <a:p>
            <a:pPr>
              <a:spcAft>
                <a:spcPts val="1000"/>
              </a:spcAft>
              <a:defRPr sz="2000" b="0">
                <a:solidFill>
                  <a:srgbClr val="15243B"/>
                </a:solidFill>
                <a:latin typeface="Aptos"/>
              </a:defRPr>
            </a:pPr>
            <a:r>
              <a:t>Balanced → working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DEUTSCH’S ALGORITHM</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6. How the algorithm works</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07</a:t>
            </a:r>
          </a:p>
        </p:txBody>
      </p:sp>
      <p:sp>
        <p:nvSpPr>
          <p:cNvPr id="7" name="Rounded Rectangle 6"/>
          <p:cNvSpPr/>
          <p:nvPr/>
        </p:nvSpPr>
        <p:spPr>
          <a:xfrm>
            <a:off x="594360" y="1737360"/>
            <a:ext cx="356616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01952"/>
            <a:ext cx="3163824" cy="457200"/>
          </a:xfrm>
          <a:prstGeom prst="rect">
            <a:avLst/>
          </a:prstGeom>
          <a:noFill/>
        </p:spPr>
        <p:txBody>
          <a:bodyPr wrap="square">
            <a:spAutoFit/>
          </a:bodyPr>
          <a:lstStyle/>
          <a:p>
            <a:pPr>
              <a:spcAft>
                <a:spcPts val="1000"/>
              </a:spcAft>
              <a:defRPr sz="2100" b="1">
                <a:solidFill>
                  <a:srgbClr val="2563EB"/>
                </a:solidFill>
                <a:latin typeface="Aptos"/>
              </a:defRPr>
            </a:pPr>
            <a:r>
              <a:t>SUPERPOSITION</a:t>
            </a:r>
          </a:p>
        </p:txBody>
      </p:sp>
      <p:sp>
        <p:nvSpPr>
          <p:cNvPr id="9" name="TextBox 8"/>
          <p:cNvSpPr txBox="1"/>
          <p:nvPr/>
        </p:nvSpPr>
        <p:spPr>
          <a:xfrm>
            <a:off x="795528" y="2560320"/>
            <a:ext cx="3163824" cy="2578608"/>
          </a:xfrm>
          <a:prstGeom prst="rect">
            <a:avLst/>
          </a:prstGeom>
          <a:noFill/>
        </p:spPr>
        <p:txBody>
          <a:bodyPr wrap="square">
            <a:spAutoFit/>
          </a:bodyPr>
          <a:lstStyle/>
          <a:p>
            <a:pPr>
              <a:spcAft>
                <a:spcPts val="1000"/>
              </a:spcAft>
              <a:defRPr sz="2000" b="0">
                <a:solidFill>
                  <a:srgbClr val="15243B"/>
                </a:solidFill>
                <a:latin typeface="Aptos"/>
              </a:defRPr>
            </a:pPr>
            <a:r>
              <a:t>H prepares the input in the plus state and the helper in the minus state.</a:t>
            </a:r>
          </a:p>
        </p:txBody>
      </p:sp>
      <p:sp>
        <p:nvSpPr>
          <p:cNvPr id="10" name="Rounded Rectangle 9"/>
          <p:cNvSpPr/>
          <p:nvPr/>
        </p:nvSpPr>
        <p:spPr>
          <a:xfrm>
            <a:off x="4325112" y="1737360"/>
            <a:ext cx="356616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901952"/>
            <a:ext cx="3163824" cy="457200"/>
          </a:xfrm>
          <a:prstGeom prst="rect">
            <a:avLst/>
          </a:prstGeom>
          <a:noFill/>
        </p:spPr>
        <p:txBody>
          <a:bodyPr wrap="square">
            <a:spAutoFit/>
          </a:bodyPr>
          <a:lstStyle/>
          <a:p>
            <a:pPr>
              <a:spcAft>
                <a:spcPts val="1000"/>
              </a:spcAft>
              <a:defRPr sz="2100" b="1">
                <a:solidFill>
                  <a:srgbClr val="087F8C"/>
                </a:solidFill>
                <a:latin typeface="Aptos"/>
              </a:defRPr>
            </a:pPr>
            <a:r>
              <a:t>PHASE KICKBACK</a:t>
            </a:r>
          </a:p>
        </p:txBody>
      </p:sp>
      <p:sp>
        <p:nvSpPr>
          <p:cNvPr id="12" name="TextBox 11"/>
          <p:cNvSpPr txBox="1"/>
          <p:nvPr/>
        </p:nvSpPr>
        <p:spPr>
          <a:xfrm>
            <a:off x="4526280" y="2560320"/>
            <a:ext cx="3163824" cy="2578608"/>
          </a:xfrm>
          <a:prstGeom prst="rect">
            <a:avLst/>
          </a:prstGeom>
          <a:noFill/>
        </p:spPr>
        <p:txBody>
          <a:bodyPr wrap="square">
            <a:spAutoFit/>
          </a:bodyPr>
          <a:lstStyle/>
          <a:p>
            <a:pPr>
              <a:spcAft>
                <a:spcPts val="1000"/>
              </a:spcAft>
              <a:defRPr sz="2000" b="0">
                <a:solidFill>
                  <a:srgbClr val="15243B"/>
                </a:solidFill>
                <a:latin typeface="Aptos"/>
              </a:defRPr>
            </a:pPr>
            <a:r>
              <a:t>The oracle creates equal or opposite signs on the input amplitudes.</a:t>
            </a:r>
          </a:p>
        </p:txBody>
      </p:sp>
      <p:sp>
        <p:nvSpPr>
          <p:cNvPr id="13" name="Rounded Rectangle 12"/>
          <p:cNvSpPr/>
          <p:nvPr/>
        </p:nvSpPr>
        <p:spPr>
          <a:xfrm>
            <a:off x="8046720" y="1737360"/>
            <a:ext cx="356616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1901952"/>
            <a:ext cx="3163824" cy="457200"/>
          </a:xfrm>
          <a:prstGeom prst="rect">
            <a:avLst/>
          </a:prstGeom>
          <a:noFill/>
        </p:spPr>
        <p:txBody>
          <a:bodyPr wrap="square">
            <a:spAutoFit/>
          </a:bodyPr>
          <a:lstStyle/>
          <a:p>
            <a:pPr>
              <a:spcAft>
                <a:spcPts val="1000"/>
              </a:spcAft>
              <a:defRPr sz="2100" b="1">
                <a:solidFill>
                  <a:srgbClr val="2563EB"/>
                </a:solidFill>
                <a:latin typeface="Aptos"/>
              </a:defRPr>
            </a:pPr>
            <a:r>
              <a:t>INTERFERENCE</a:t>
            </a:r>
          </a:p>
        </p:txBody>
      </p:sp>
      <p:sp>
        <p:nvSpPr>
          <p:cNvPr id="15" name="TextBox 14"/>
          <p:cNvSpPr txBox="1"/>
          <p:nvPr/>
        </p:nvSpPr>
        <p:spPr>
          <a:xfrm>
            <a:off x="8247888" y="2560320"/>
            <a:ext cx="3163824" cy="2578608"/>
          </a:xfrm>
          <a:prstGeom prst="rect">
            <a:avLst/>
          </a:prstGeom>
          <a:noFill/>
        </p:spPr>
        <p:txBody>
          <a:bodyPr wrap="square">
            <a:spAutoFit/>
          </a:bodyPr>
          <a:lstStyle/>
          <a:p>
            <a:pPr>
              <a:spcAft>
                <a:spcPts val="1000"/>
              </a:spcAft>
              <a:defRPr sz="2000" b="0">
                <a:solidFill>
                  <a:srgbClr val="15243B"/>
                </a:solidFill>
                <a:latin typeface="Aptos"/>
              </a:defRPr>
            </a:pPr>
            <a:r>
              <a:t>The final H turns the sign difference into a definite 0 or 1.</a:t>
            </a:r>
          </a:p>
        </p:txBody>
      </p:sp>
      <p:sp>
        <p:nvSpPr>
          <p:cNvPr id="16" name="TextBox 15"/>
          <p:cNvSpPr txBox="1"/>
          <p:nvPr/>
        </p:nvSpPr>
        <p:spPr>
          <a:xfrm>
            <a:off x="731520" y="5486400"/>
            <a:ext cx="10698480" cy="548640"/>
          </a:xfrm>
          <a:prstGeom prst="rect">
            <a:avLst/>
          </a:prstGeom>
          <a:noFill/>
        </p:spPr>
        <p:txBody>
          <a:bodyPr wrap="square">
            <a:spAutoFit/>
          </a:bodyPr>
          <a:lstStyle/>
          <a:p>
            <a:pPr>
              <a:spcAft>
                <a:spcPts val="1000"/>
              </a:spcAft>
              <a:defRPr sz="2300" b="1">
                <a:solidFill>
                  <a:srgbClr val="15243B"/>
                </a:solidFill>
                <a:latin typeface="Aptos"/>
              </a:defRPr>
            </a:pPr>
            <a:r>
              <a:t>Measured result = f(0) XOR f(1).  Equal outputs → 0; different outputs →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DEUTSCH’S ALGORITHM</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7. Solution: build every oracle</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08</a:t>
            </a:r>
          </a:p>
        </p:txBody>
      </p:sp>
      <p:pic>
        <p:nvPicPr>
          <p:cNvPr id="7" name="Picture 6" descr="all-oracles.png"/>
          <p:cNvPicPr>
            <a:picLocks noChangeAspect="1"/>
          </p:cNvPicPr>
          <p:nvPr/>
        </p:nvPicPr>
        <p:blipFill>
          <a:blip r:embed="rId3"/>
          <a:stretch>
            <a:fillRect/>
          </a:stretch>
        </p:blipFill>
        <p:spPr>
          <a:xfrm>
            <a:off x="847109" y="1645920"/>
            <a:ext cx="5986740" cy="4343400"/>
          </a:xfrm>
          <a:prstGeom prst="rect">
            <a:avLst/>
          </a:prstGeom>
        </p:spPr>
      </p:pic>
      <p:sp>
        <p:nvSpPr>
          <p:cNvPr id="8" name="Rounded Rectangle 7"/>
          <p:cNvSpPr/>
          <p:nvPr/>
        </p:nvSpPr>
        <p:spPr>
          <a:xfrm>
            <a:off x="7360920" y="1828800"/>
            <a:ext cx="416052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62088" y="1993392"/>
            <a:ext cx="3758183" cy="457200"/>
          </a:xfrm>
          <a:prstGeom prst="rect">
            <a:avLst/>
          </a:prstGeom>
          <a:noFill/>
        </p:spPr>
        <p:txBody>
          <a:bodyPr wrap="square">
            <a:spAutoFit/>
          </a:bodyPr>
          <a:lstStyle/>
          <a:p>
            <a:pPr>
              <a:spcAft>
                <a:spcPts val="1000"/>
              </a:spcAft>
              <a:defRPr sz="2100" b="1">
                <a:solidFill>
                  <a:srgbClr val="087F8C"/>
                </a:solidFill>
                <a:latin typeface="Aptos"/>
              </a:defRPr>
            </a:pPr>
            <a:r>
              <a:t>ORACLE CONTRACT</a:t>
            </a:r>
          </a:p>
        </p:txBody>
      </p:sp>
      <p:sp>
        <p:nvSpPr>
          <p:cNvPr id="10" name="TextBox 9"/>
          <p:cNvSpPr txBox="1"/>
          <p:nvPr/>
        </p:nvSpPr>
        <p:spPr>
          <a:xfrm>
            <a:off x="7562088" y="2651760"/>
            <a:ext cx="3758183" cy="2578608"/>
          </a:xfrm>
          <a:prstGeom prst="rect">
            <a:avLst/>
          </a:prstGeom>
          <a:noFill/>
        </p:spPr>
        <p:txBody>
          <a:bodyPr wrap="square">
            <a:spAutoFit/>
          </a:bodyPr>
          <a:lstStyle/>
          <a:p>
            <a:pPr>
              <a:spcAft>
                <a:spcPts val="1000"/>
              </a:spcAft>
              <a:defRPr sz="2000" b="0">
                <a:solidFill>
                  <a:srgbClr val="15243B"/>
                </a:solidFill>
                <a:latin typeface="Aptos"/>
              </a:defRPr>
            </a:pPr>
            <a:r>
              <a:t>Keep input x unchanged.</a:t>
            </a:r>
          </a:p>
          <a:p>
            <a:pPr>
              <a:spcAft>
                <a:spcPts val="1000"/>
              </a:spcAft>
              <a:defRPr sz="2000" b="0">
                <a:solidFill>
                  <a:srgbClr val="15243B"/>
                </a:solidFill>
                <a:latin typeface="Aptos"/>
              </a:defRPr>
            </a:pPr>
            <a:r>
              <a:t>Change helper y to:</a:t>
            </a:r>
          </a:p>
          <a:p>
            <a:pPr>
              <a:spcAft>
                <a:spcPts val="1000"/>
              </a:spcAft>
              <a:defRPr sz="2000" b="0">
                <a:solidFill>
                  <a:srgbClr val="15243B"/>
                </a:solidFill>
                <a:latin typeface="Aptos"/>
              </a:defRPr>
            </a:pPr>
            <a:r>
              <a:t>y XOR f(x).</a:t>
            </a:r>
          </a:p>
          <a:p>
            <a:pPr>
              <a:spcAft>
                <a:spcPts val="1000"/>
              </a:spcAft>
              <a:defRPr sz="2000" b="0">
                <a:solidFill>
                  <a:srgbClr val="15243B"/>
                </a:solidFill>
                <a:latin typeface="Aptos"/>
              </a:defRPr>
            </a:pPr>
            <a:r>
              <a:t>This preserves reversibility.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DEUTSCH’S ALGORITHM</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8. Implemented circuit and simulation</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09</a:t>
            </a:r>
          </a:p>
        </p:txBody>
      </p:sp>
      <p:sp>
        <p:nvSpPr>
          <p:cNvPr id="7" name="Rounded Rectangle 6"/>
          <p:cNvSpPr/>
          <p:nvPr/>
        </p:nvSpPr>
        <p:spPr>
          <a:xfrm>
            <a:off x="594360" y="1691640"/>
            <a:ext cx="1097280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ell-10-2.png"/>
          <p:cNvPicPr>
            <a:picLocks noChangeAspect="1"/>
          </p:cNvPicPr>
          <p:nvPr/>
        </p:nvPicPr>
        <p:blipFill>
          <a:blip r:embed="rId3"/>
          <a:stretch>
            <a:fillRect/>
          </a:stretch>
        </p:blipFill>
        <p:spPr>
          <a:xfrm>
            <a:off x="3029700" y="1783080"/>
            <a:ext cx="6102118" cy="2103120"/>
          </a:xfrm>
          <a:prstGeom prst="rect">
            <a:avLst/>
          </a:prstGeom>
        </p:spPr>
      </p:pic>
      <p:sp>
        <p:nvSpPr>
          <p:cNvPr id="9" name="Rounded Rectangle 8"/>
          <p:cNvSpPr/>
          <p:nvPr/>
        </p:nvSpPr>
        <p:spPr>
          <a:xfrm>
            <a:off x="594360" y="4251960"/>
            <a:ext cx="356616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4416552"/>
            <a:ext cx="3163824" cy="457200"/>
          </a:xfrm>
          <a:prstGeom prst="rect">
            <a:avLst/>
          </a:prstGeom>
          <a:noFill/>
        </p:spPr>
        <p:txBody>
          <a:bodyPr wrap="square">
            <a:spAutoFit/>
          </a:bodyPr>
          <a:lstStyle/>
          <a:p>
            <a:pPr>
              <a:spcAft>
                <a:spcPts val="1000"/>
              </a:spcAft>
              <a:defRPr sz="2100" b="1">
                <a:solidFill>
                  <a:srgbClr val="2563EB"/>
                </a:solidFill>
                <a:latin typeface="Aptos"/>
              </a:defRPr>
            </a:pPr>
            <a:r>
              <a:t>QISKIT</a:t>
            </a:r>
          </a:p>
        </p:txBody>
      </p:sp>
      <p:sp>
        <p:nvSpPr>
          <p:cNvPr id="11" name="TextBox 10"/>
          <p:cNvSpPr txBox="1"/>
          <p:nvPr/>
        </p:nvSpPr>
        <p:spPr>
          <a:xfrm>
            <a:off x="795528" y="5074920"/>
            <a:ext cx="3163824" cy="749808"/>
          </a:xfrm>
          <a:prstGeom prst="rect">
            <a:avLst/>
          </a:prstGeom>
          <a:noFill/>
        </p:spPr>
        <p:txBody>
          <a:bodyPr wrap="square">
            <a:spAutoFit/>
          </a:bodyPr>
          <a:lstStyle/>
          <a:p>
            <a:pPr>
              <a:spcAft>
                <a:spcPts val="1000"/>
              </a:spcAft>
              <a:defRPr sz="2000" b="0">
                <a:solidFill>
                  <a:srgbClr val="15243B"/>
                </a:solidFill>
                <a:latin typeface="Aptos"/>
              </a:defRPr>
            </a:pPr>
            <a:r>
              <a:t>Construct circuits and transpile.</a:t>
            </a:r>
          </a:p>
        </p:txBody>
      </p:sp>
      <p:sp>
        <p:nvSpPr>
          <p:cNvPr id="12" name="Rounded Rectangle 11"/>
          <p:cNvSpPr/>
          <p:nvPr/>
        </p:nvSpPr>
        <p:spPr>
          <a:xfrm>
            <a:off x="4343400" y="4251960"/>
            <a:ext cx="356616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4416552"/>
            <a:ext cx="3163824" cy="457200"/>
          </a:xfrm>
          <a:prstGeom prst="rect">
            <a:avLst/>
          </a:prstGeom>
          <a:noFill/>
        </p:spPr>
        <p:txBody>
          <a:bodyPr wrap="square">
            <a:spAutoFit/>
          </a:bodyPr>
          <a:lstStyle/>
          <a:p>
            <a:pPr>
              <a:spcAft>
                <a:spcPts val="1000"/>
              </a:spcAft>
              <a:defRPr sz="2100" b="1">
                <a:solidFill>
                  <a:srgbClr val="087F8C"/>
                </a:solidFill>
                <a:latin typeface="Aptos"/>
              </a:defRPr>
            </a:pPr>
            <a:r>
              <a:t>AER SIMULATOR</a:t>
            </a:r>
          </a:p>
        </p:txBody>
      </p:sp>
      <p:sp>
        <p:nvSpPr>
          <p:cNvPr id="14" name="TextBox 13"/>
          <p:cNvSpPr txBox="1"/>
          <p:nvPr/>
        </p:nvSpPr>
        <p:spPr>
          <a:xfrm>
            <a:off x="4544568" y="5074920"/>
            <a:ext cx="3163824" cy="749808"/>
          </a:xfrm>
          <a:prstGeom prst="rect">
            <a:avLst/>
          </a:prstGeom>
          <a:noFill/>
        </p:spPr>
        <p:txBody>
          <a:bodyPr wrap="square">
            <a:spAutoFit/>
          </a:bodyPr>
          <a:lstStyle/>
          <a:p>
            <a:pPr>
              <a:spcAft>
                <a:spcPts val="1000"/>
              </a:spcAft>
              <a:defRPr sz="2000" b="0">
                <a:solidFill>
                  <a:srgbClr val="15243B"/>
                </a:solidFill>
                <a:latin typeface="Aptos"/>
              </a:defRPr>
            </a:pPr>
            <a:r>
              <a:t>2 qubits; 1 classical bit.</a:t>
            </a:r>
          </a:p>
        </p:txBody>
      </p:sp>
      <p:sp>
        <p:nvSpPr>
          <p:cNvPr id="15" name="Rounded Rectangle 14"/>
          <p:cNvSpPr/>
          <p:nvPr/>
        </p:nvSpPr>
        <p:spPr>
          <a:xfrm>
            <a:off x="8092440" y="4251960"/>
            <a:ext cx="347472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4416552"/>
            <a:ext cx="3072384" cy="457200"/>
          </a:xfrm>
          <a:prstGeom prst="rect">
            <a:avLst/>
          </a:prstGeom>
          <a:noFill/>
        </p:spPr>
        <p:txBody>
          <a:bodyPr wrap="square">
            <a:spAutoFit/>
          </a:bodyPr>
          <a:lstStyle/>
          <a:p>
            <a:pPr>
              <a:spcAft>
                <a:spcPts val="1000"/>
              </a:spcAft>
              <a:defRPr sz="2100" b="1">
                <a:solidFill>
                  <a:srgbClr val="2563EB"/>
                </a:solidFill>
                <a:latin typeface="Aptos"/>
              </a:defRPr>
            </a:pPr>
            <a:r>
              <a:t>IDEAL EXPERIMENT</a:t>
            </a:r>
          </a:p>
        </p:txBody>
      </p:sp>
      <p:sp>
        <p:nvSpPr>
          <p:cNvPr id="17" name="TextBox 16"/>
          <p:cNvSpPr txBox="1"/>
          <p:nvPr/>
        </p:nvSpPr>
        <p:spPr>
          <a:xfrm>
            <a:off x="8293608" y="5074920"/>
            <a:ext cx="3072384" cy="749808"/>
          </a:xfrm>
          <a:prstGeom prst="rect">
            <a:avLst/>
          </a:prstGeom>
          <a:noFill/>
        </p:spPr>
        <p:txBody>
          <a:bodyPr wrap="square">
            <a:spAutoFit/>
          </a:bodyPr>
          <a:lstStyle/>
          <a:p>
            <a:pPr>
              <a:spcAft>
                <a:spcPts val="1000"/>
              </a:spcAft>
              <a:defRPr sz="2000" b="0">
                <a:solidFill>
                  <a:srgbClr val="15243B"/>
                </a:solidFill>
                <a:latin typeface="Aptos"/>
              </a:defRPr>
            </a:pPr>
            <a:r>
              <a:t>1,024 shots per oracle; seed 42.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DEUTSCH’S ALGORITHM</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9. Results: all four diagnoses are correct</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10</a:t>
            </a:r>
          </a:p>
        </p:txBody>
      </p:sp>
      <p:graphicFrame>
        <p:nvGraphicFramePr>
          <p:cNvPr id="7" name="Table 6"/>
          <p:cNvGraphicFramePr>
            <a:graphicFrameLocks noGrp="1"/>
          </p:cNvGraphicFramePr>
          <p:nvPr/>
        </p:nvGraphicFramePr>
        <p:xfrm>
          <a:off x="548640" y="1737360"/>
          <a:ext cx="11064240" cy="324612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649224">
                <a:tc>
                  <a:txBody>
                    <a:bodyPr/>
                    <a:lstStyle/>
                    <a:p>
                      <a:pPr>
                        <a:defRPr sz="1900" b="1">
                          <a:solidFill>
                            <a:srgbClr val="FFFFFF"/>
                          </a:solidFill>
                          <a:latin typeface="Aptos"/>
                        </a:defRPr>
                      </a:pPr>
                      <a:r>
                        <a:t>Rule</a:t>
                      </a:r>
                    </a:p>
                  </a:txBody>
                  <a:tcPr marL="109728" marR="91440" anchor="ctr">
                    <a:solidFill>
                      <a:srgbClr val="15243B"/>
                    </a:solidFill>
                  </a:tcPr>
                </a:tc>
                <a:tc>
                  <a:txBody>
                    <a:bodyPr/>
                    <a:lstStyle/>
                    <a:p>
                      <a:pPr>
                        <a:defRPr sz="1900" b="1">
                          <a:solidFill>
                            <a:srgbClr val="FFFFFF"/>
                          </a:solidFill>
                          <a:latin typeface="Aptos"/>
                        </a:defRPr>
                      </a:pPr>
                      <a:r>
                        <a:t>Count 0</a:t>
                      </a:r>
                    </a:p>
                  </a:txBody>
                  <a:tcPr marL="109728" marR="91440" anchor="ctr">
                    <a:solidFill>
                      <a:srgbClr val="15243B"/>
                    </a:solidFill>
                  </a:tcPr>
                </a:tc>
                <a:tc>
                  <a:txBody>
                    <a:bodyPr/>
                    <a:lstStyle/>
                    <a:p>
                      <a:pPr>
                        <a:defRPr sz="1900" b="1">
                          <a:solidFill>
                            <a:srgbClr val="FFFFFF"/>
                          </a:solidFill>
                          <a:latin typeface="Aptos"/>
                        </a:defRPr>
                      </a:pPr>
                      <a:r>
                        <a:t>Count 1</a:t>
                      </a:r>
                    </a:p>
                  </a:txBody>
                  <a:tcPr marL="109728" marR="91440" anchor="ctr">
                    <a:solidFill>
                      <a:srgbClr val="15243B"/>
                    </a:solidFill>
                  </a:tcPr>
                </a:tc>
                <a:tc>
                  <a:txBody>
                    <a:bodyPr/>
                    <a:lstStyle/>
                    <a:p>
                      <a:pPr>
                        <a:defRPr sz="1900" b="1">
                          <a:solidFill>
                            <a:srgbClr val="FFFFFF"/>
                          </a:solidFill>
                          <a:latin typeface="Aptos"/>
                        </a:defRPr>
                      </a:pPr>
                      <a:r>
                        <a:t>Measured bit</a:t>
                      </a:r>
                    </a:p>
                  </a:txBody>
                  <a:tcPr marL="109728" marR="91440" anchor="ctr">
                    <a:solidFill>
                      <a:srgbClr val="15243B"/>
                    </a:solidFill>
                  </a:tcPr>
                </a:tc>
                <a:tc>
                  <a:txBody>
                    <a:bodyPr/>
                    <a:lstStyle/>
                    <a:p>
                      <a:pPr>
                        <a:defRPr sz="1900" b="1">
                          <a:solidFill>
                            <a:srgbClr val="FFFFFF"/>
                          </a:solidFill>
                          <a:latin typeface="Aptos"/>
                        </a:defRPr>
                      </a:pPr>
                      <a:r>
                        <a:t>Diagnosis</a:t>
                      </a:r>
                    </a:p>
                  </a:txBody>
                  <a:tcPr marL="109728" marR="91440" anchor="ctr">
                    <a:solidFill>
                      <a:srgbClr val="15243B"/>
                    </a:solidFill>
                  </a:tcPr>
                </a:tc>
              </a:tr>
              <a:tr h="649224">
                <a:tc>
                  <a:txBody>
                    <a:bodyPr/>
                    <a:lstStyle/>
                    <a:p>
                      <a:pPr>
                        <a:defRPr sz="1900" b="0">
                          <a:solidFill>
                            <a:srgbClr val="15243B"/>
                          </a:solidFill>
                          <a:latin typeface="Aptos"/>
                        </a:defRPr>
                      </a:pPr>
                      <a:r>
                        <a:t>0</a:t>
                      </a:r>
                    </a:p>
                  </a:txBody>
                  <a:tcPr marL="109728" marR="91440" anchor="ctr">
                    <a:solidFill>
                      <a:srgbClr val="FFFFFF"/>
                    </a:solidFill>
                  </a:tcPr>
                </a:tc>
                <a:tc>
                  <a:txBody>
                    <a:bodyPr/>
                    <a:lstStyle/>
                    <a:p>
                      <a:pPr>
                        <a:defRPr sz="1900" b="0">
                          <a:solidFill>
                            <a:srgbClr val="15243B"/>
                          </a:solidFill>
                          <a:latin typeface="Aptos"/>
                        </a:defRPr>
                      </a:pPr>
                      <a:r>
                        <a:t>1024</a:t>
                      </a:r>
                    </a:p>
                  </a:txBody>
                  <a:tcPr marL="109728" marR="91440" anchor="ctr">
                    <a:solidFill>
                      <a:srgbClr val="FFFFFF"/>
                    </a:solidFill>
                  </a:tcPr>
                </a:tc>
                <a:tc>
                  <a:txBody>
                    <a:bodyPr/>
                    <a:lstStyle/>
                    <a:p>
                      <a:pPr>
                        <a:defRPr sz="1900" b="0">
                          <a:solidFill>
                            <a:srgbClr val="15243B"/>
                          </a:solidFill>
                          <a:latin typeface="Aptos"/>
                        </a:defRPr>
                      </a:pPr>
                      <a:r>
                        <a:t>0</a:t>
                      </a:r>
                    </a:p>
                  </a:txBody>
                  <a:tcPr marL="109728" marR="91440" anchor="ctr">
                    <a:solidFill>
                      <a:srgbClr val="FFFFFF"/>
                    </a:solidFill>
                  </a:tcPr>
                </a:tc>
                <a:tc>
                  <a:txBody>
                    <a:bodyPr/>
                    <a:lstStyle/>
                    <a:p>
                      <a:pPr>
                        <a:defRPr sz="1900" b="0">
                          <a:solidFill>
                            <a:srgbClr val="15243B"/>
                          </a:solidFill>
                          <a:latin typeface="Aptos"/>
                        </a:defRPr>
                      </a:pPr>
                      <a:r>
                        <a:t>0</a:t>
                      </a:r>
                    </a:p>
                  </a:txBody>
                  <a:tcPr marL="109728" marR="91440" anchor="ctr">
                    <a:solidFill>
                      <a:srgbClr val="FFFFFF"/>
                    </a:solidFill>
                  </a:tcPr>
                </a:tc>
                <a:tc>
                  <a:txBody>
                    <a:bodyPr/>
                    <a:lstStyle/>
                    <a:p>
                      <a:pPr>
                        <a:defRPr sz="1900" b="0">
                          <a:solidFill>
                            <a:srgbClr val="15243B"/>
                          </a:solidFill>
                          <a:latin typeface="Aptos"/>
                        </a:defRPr>
                      </a:pPr>
                      <a:r>
                        <a:t>Faulty</a:t>
                      </a:r>
                    </a:p>
                  </a:txBody>
                  <a:tcPr marL="109728" marR="91440" anchor="ctr">
                    <a:solidFill>
                      <a:srgbClr val="FFFFFF"/>
                    </a:solidFill>
                  </a:tcPr>
                </a:tc>
              </a:tr>
              <a:tr h="649224">
                <a:tc>
                  <a:txBody>
                    <a:bodyPr/>
                    <a:lstStyle/>
                    <a:p>
                      <a:pPr>
                        <a:defRPr sz="1900" b="0">
                          <a:solidFill>
                            <a:srgbClr val="15243B"/>
                          </a:solidFill>
                          <a:latin typeface="Aptos"/>
                        </a:defRPr>
                      </a:pPr>
                      <a:r>
                        <a:t>1</a:t>
                      </a:r>
                    </a:p>
                  </a:txBody>
                  <a:tcPr marL="109728" marR="91440" anchor="ctr">
                    <a:solidFill>
                      <a:srgbClr val="EAF0FA"/>
                    </a:solidFill>
                  </a:tcPr>
                </a:tc>
                <a:tc>
                  <a:txBody>
                    <a:bodyPr/>
                    <a:lstStyle/>
                    <a:p>
                      <a:pPr>
                        <a:defRPr sz="1900" b="0">
                          <a:solidFill>
                            <a:srgbClr val="15243B"/>
                          </a:solidFill>
                          <a:latin typeface="Aptos"/>
                        </a:defRPr>
                      </a:pPr>
                      <a:r>
                        <a:t>1024</a:t>
                      </a:r>
                    </a:p>
                  </a:txBody>
                  <a:tcPr marL="109728" marR="91440" anchor="ctr">
                    <a:solidFill>
                      <a:srgbClr val="EAF0FA"/>
                    </a:solidFill>
                  </a:tcPr>
                </a:tc>
                <a:tc>
                  <a:txBody>
                    <a:bodyPr/>
                    <a:lstStyle/>
                    <a:p>
                      <a:pPr>
                        <a:defRPr sz="1900" b="0">
                          <a:solidFill>
                            <a:srgbClr val="15243B"/>
                          </a:solidFill>
                          <a:latin typeface="Aptos"/>
                        </a:defRPr>
                      </a:pPr>
                      <a:r>
                        <a:t>0</a:t>
                      </a:r>
                    </a:p>
                  </a:txBody>
                  <a:tcPr marL="109728" marR="91440" anchor="ctr">
                    <a:solidFill>
                      <a:srgbClr val="EAF0FA"/>
                    </a:solidFill>
                  </a:tcPr>
                </a:tc>
                <a:tc>
                  <a:txBody>
                    <a:bodyPr/>
                    <a:lstStyle/>
                    <a:p>
                      <a:pPr>
                        <a:defRPr sz="1900" b="0">
                          <a:solidFill>
                            <a:srgbClr val="15243B"/>
                          </a:solidFill>
                          <a:latin typeface="Aptos"/>
                        </a:defRPr>
                      </a:pPr>
                      <a:r>
                        <a:t>0</a:t>
                      </a:r>
                    </a:p>
                  </a:txBody>
                  <a:tcPr marL="109728" marR="91440" anchor="ctr">
                    <a:solidFill>
                      <a:srgbClr val="EAF0FA"/>
                    </a:solidFill>
                  </a:tcPr>
                </a:tc>
                <a:tc>
                  <a:txBody>
                    <a:bodyPr/>
                    <a:lstStyle/>
                    <a:p>
                      <a:pPr>
                        <a:defRPr sz="1900" b="0">
                          <a:solidFill>
                            <a:srgbClr val="15243B"/>
                          </a:solidFill>
                          <a:latin typeface="Aptos"/>
                        </a:defRPr>
                      </a:pPr>
                      <a:r>
                        <a:t>Faulty</a:t>
                      </a:r>
                    </a:p>
                  </a:txBody>
                  <a:tcPr marL="109728" marR="91440" anchor="ctr">
                    <a:solidFill>
                      <a:srgbClr val="EAF0FA"/>
                    </a:solidFill>
                  </a:tcPr>
                </a:tc>
              </a:tr>
              <a:tr h="649224">
                <a:tc>
                  <a:txBody>
                    <a:bodyPr/>
                    <a:lstStyle/>
                    <a:p>
                      <a:pPr>
                        <a:defRPr sz="1900" b="0">
                          <a:solidFill>
                            <a:srgbClr val="15243B"/>
                          </a:solidFill>
                          <a:latin typeface="Aptos"/>
                        </a:defRPr>
                      </a:pPr>
                      <a:r>
                        <a:t>x</a:t>
                      </a:r>
                    </a:p>
                  </a:txBody>
                  <a:tcPr marL="109728" marR="91440" anchor="ctr">
                    <a:solidFill>
                      <a:srgbClr val="FFFFFF"/>
                    </a:solidFill>
                  </a:tcPr>
                </a:tc>
                <a:tc>
                  <a:txBody>
                    <a:bodyPr/>
                    <a:lstStyle/>
                    <a:p>
                      <a:pPr>
                        <a:defRPr sz="1900" b="0">
                          <a:solidFill>
                            <a:srgbClr val="15243B"/>
                          </a:solidFill>
                          <a:latin typeface="Aptos"/>
                        </a:defRPr>
                      </a:pPr>
                      <a:r>
                        <a:t>0</a:t>
                      </a:r>
                    </a:p>
                  </a:txBody>
                  <a:tcPr marL="109728" marR="91440" anchor="ctr">
                    <a:solidFill>
                      <a:srgbClr val="FFFFFF"/>
                    </a:solidFill>
                  </a:tcPr>
                </a:tc>
                <a:tc>
                  <a:txBody>
                    <a:bodyPr/>
                    <a:lstStyle/>
                    <a:p>
                      <a:pPr>
                        <a:defRPr sz="1900" b="0">
                          <a:solidFill>
                            <a:srgbClr val="15243B"/>
                          </a:solidFill>
                          <a:latin typeface="Aptos"/>
                        </a:defRPr>
                      </a:pPr>
                      <a:r>
                        <a:t>1024</a:t>
                      </a:r>
                    </a:p>
                  </a:txBody>
                  <a:tcPr marL="109728" marR="91440" anchor="ctr">
                    <a:solidFill>
                      <a:srgbClr val="FFFFFF"/>
                    </a:solidFill>
                  </a:tcPr>
                </a:tc>
                <a:tc>
                  <a:txBody>
                    <a:bodyPr/>
                    <a:lstStyle/>
                    <a:p>
                      <a:pPr>
                        <a:defRPr sz="1900" b="0">
                          <a:solidFill>
                            <a:srgbClr val="15243B"/>
                          </a:solidFill>
                          <a:latin typeface="Aptos"/>
                        </a:defRPr>
                      </a:pPr>
                      <a:r>
                        <a:t>1</a:t>
                      </a:r>
                    </a:p>
                  </a:txBody>
                  <a:tcPr marL="109728" marR="91440" anchor="ctr">
                    <a:solidFill>
                      <a:srgbClr val="FFFFFF"/>
                    </a:solidFill>
                  </a:tcPr>
                </a:tc>
                <a:tc>
                  <a:txBody>
                    <a:bodyPr/>
                    <a:lstStyle/>
                    <a:p>
                      <a:pPr>
                        <a:defRPr sz="1900" b="0">
                          <a:solidFill>
                            <a:srgbClr val="15243B"/>
                          </a:solidFill>
                          <a:latin typeface="Aptos"/>
                        </a:defRPr>
                      </a:pPr>
                      <a:r>
                        <a:t>Working</a:t>
                      </a:r>
                    </a:p>
                  </a:txBody>
                  <a:tcPr marL="109728" marR="91440" anchor="ctr">
                    <a:solidFill>
                      <a:srgbClr val="FFFFFF"/>
                    </a:solidFill>
                  </a:tcPr>
                </a:tc>
              </a:tr>
              <a:tr h="649224">
                <a:tc>
                  <a:txBody>
                    <a:bodyPr/>
                    <a:lstStyle/>
                    <a:p>
                      <a:pPr>
                        <a:defRPr sz="1900" b="0">
                          <a:solidFill>
                            <a:srgbClr val="15243B"/>
                          </a:solidFill>
                          <a:latin typeface="Aptos"/>
                        </a:defRPr>
                      </a:pPr>
                      <a:r>
                        <a:t>1 XOR x</a:t>
                      </a:r>
                    </a:p>
                  </a:txBody>
                  <a:tcPr marL="109728" marR="91440" anchor="ctr">
                    <a:solidFill>
                      <a:srgbClr val="EAF0FA"/>
                    </a:solidFill>
                  </a:tcPr>
                </a:tc>
                <a:tc>
                  <a:txBody>
                    <a:bodyPr/>
                    <a:lstStyle/>
                    <a:p>
                      <a:pPr>
                        <a:defRPr sz="1900" b="0">
                          <a:solidFill>
                            <a:srgbClr val="15243B"/>
                          </a:solidFill>
                          <a:latin typeface="Aptos"/>
                        </a:defRPr>
                      </a:pPr>
                      <a:r>
                        <a:t>0</a:t>
                      </a:r>
                    </a:p>
                  </a:txBody>
                  <a:tcPr marL="109728" marR="91440" anchor="ctr">
                    <a:solidFill>
                      <a:srgbClr val="EAF0FA"/>
                    </a:solidFill>
                  </a:tcPr>
                </a:tc>
                <a:tc>
                  <a:txBody>
                    <a:bodyPr/>
                    <a:lstStyle/>
                    <a:p>
                      <a:pPr>
                        <a:defRPr sz="1900" b="0">
                          <a:solidFill>
                            <a:srgbClr val="15243B"/>
                          </a:solidFill>
                          <a:latin typeface="Aptos"/>
                        </a:defRPr>
                      </a:pPr>
                      <a:r>
                        <a:t>1024</a:t>
                      </a:r>
                    </a:p>
                  </a:txBody>
                  <a:tcPr marL="109728" marR="91440" anchor="ctr">
                    <a:solidFill>
                      <a:srgbClr val="EAF0FA"/>
                    </a:solidFill>
                  </a:tcPr>
                </a:tc>
                <a:tc>
                  <a:txBody>
                    <a:bodyPr/>
                    <a:lstStyle/>
                    <a:p>
                      <a:pPr>
                        <a:defRPr sz="1900" b="0">
                          <a:solidFill>
                            <a:srgbClr val="15243B"/>
                          </a:solidFill>
                          <a:latin typeface="Aptos"/>
                        </a:defRPr>
                      </a:pPr>
                      <a:r>
                        <a:t>1</a:t>
                      </a:r>
                    </a:p>
                  </a:txBody>
                  <a:tcPr marL="109728" marR="91440" anchor="ctr">
                    <a:solidFill>
                      <a:srgbClr val="EAF0FA"/>
                    </a:solidFill>
                  </a:tcPr>
                </a:tc>
                <a:tc>
                  <a:txBody>
                    <a:bodyPr/>
                    <a:lstStyle/>
                    <a:p>
                      <a:pPr>
                        <a:defRPr sz="1900" b="0">
                          <a:solidFill>
                            <a:srgbClr val="15243B"/>
                          </a:solidFill>
                          <a:latin typeface="Aptos"/>
                        </a:defRPr>
                      </a:pPr>
                      <a:r>
                        <a:t>Working</a:t>
                      </a:r>
                    </a:p>
                  </a:txBody>
                  <a:tcPr marL="109728" marR="91440" anchor="ctr">
                    <a:solidFill>
                      <a:srgbClr val="EAF0FA"/>
                    </a:solidFill>
                  </a:tcPr>
                </a:tc>
              </a:tr>
            </a:tbl>
          </a:graphicData>
        </a:graphic>
      </p:graphicFrame>
      <p:sp>
        <p:nvSpPr>
          <p:cNvPr id="8" name="TextBox 7"/>
          <p:cNvSpPr txBox="1"/>
          <p:nvPr/>
        </p:nvSpPr>
        <p:spPr>
          <a:xfrm>
            <a:off x="685800" y="5349240"/>
            <a:ext cx="10698480" cy="457200"/>
          </a:xfrm>
          <a:prstGeom prst="rect">
            <a:avLst/>
          </a:prstGeom>
          <a:noFill/>
        </p:spPr>
        <p:txBody>
          <a:bodyPr wrap="square">
            <a:spAutoFit/>
          </a:bodyPr>
          <a:lstStyle/>
          <a:p>
            <a:pPr>
              <a:spcAft>
                <a:spcPts val="1000"/>
              </a:spcAft>
              <a:defRPr sz="2400" b="1">
                <a:solidFill>
                  <a:srgbClr val="087F8C"/>
                </a:solidFill>
                <a:latin typeface="Aptos"/>
              </a:defRPr>
            </a:pPr>
            <a:r>
              <a:t>All ideal classifications matched the exact statevector predictions.</a:t>
            </a:r>
          </a:p>
        </p:txBody>
      </p:sp>
      <p:sp>
        <p:nvSpPr>
          <p:cNvPr id="9" name="TextBox 8"/>
          <p:cNvSpPr txBox="1"/>
          <p:nvPr/>
        </p:nvSpPr>
        <p:spPr>
          <a:xfrm>
            <a:off x="685800" y="5852160"/>
            <a:ext cx="10698480" cy="365760"/>
          </a:xfrm>
          <a:prstGeom prst="rect">
            <a:avLst/>
          </a:prstGeom>
          <a:noFill/>
        </p:spPr>
        <p:txBody>
          <a:bodyPr wrap="square">
            <a:spAutoFit/>
          </a:bodyPr>
          <a:lstStyle/>
          <a:p>
            <a:pPr>
              <a:spcAft>
                <a:spcPts val="1000"/>
              </a:spcAft>
              <a:defRPr sz="1900" b="0">
                <a:solidFill>
                  <a:srgbClr val="526176"/>
                </a:solidFill>
                <a:latin typeface="Aptos"/>
              </a:defRPr>
            </a:pPr>
            <a:r>
              <a:t>One query per shot × 1,024 shots × 4 oracles = 4,096 total ideal queries.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DEUTSCH’S ALGORITHM</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10. Validation and measurement-noise study</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11</a:t>
            </a:r>
          </a:p>
        </p:txBody>
      </p:sp>
      <p:pic>
        <p:nvPicPr>
          <p:cNvPr id="7" name="Picture 6" descr="cell-17-0.png"/>
          <p:cNvPicPr>
            <a:picLocks noChangeAspect="1"/>
          </p:cNvPicPr>
          <p:nvPr/>
        </p:nvPicPr>
        <p:blipFill>
          <a:blip r:embed="rId3"/>
          <a:stretch>
            <a:fillRect/>
          </a:stretch>
        </p:blipFill>
        <p:spPr>
          <a:xfrm>
            <a:off x="594360" y="1939435"/>
            <a:ext cx="6858000" cy="3847809"/>
          </a:xfrm>
          <a:prstGeom prst="rect">
            <a:avLst/>
          </a:prstGeom>
        </p:spPr>
      </p:pic>
      <p:sp>
        <p:nvSpPr>
          <p:cNvPr id="8" name="Rounded Rectangle 7"/>
          <p:cNvSpPr/>
          <p:nvPr/>
        </p:nvSpPr>
        <p:spPr>
          <a:xfrm>
            <a:off x="7680960" y="1783080"/>
            <a:ext cx="384048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82128" y="1947672"/>
            <a:ext cx="3438144" cy="457200"/>
          </a:xfrm>
          <a:prstGeom prst="rect">
            <a:avLst/>
          </a:prstGeom>
          <a:noFill/>
        </p:spPr>
        <p:txBody>
          <a:bodyPr wrap="square">
            <a:spAutoFit/>
          </a:bodyPr>
          <a:lstStyle/>
          <a:p>
            <a:pPr>
              <a:spcAft>
                <a:spcPts val="1000"/>
              </a:spcAft>
              <a:defRPr sz="2100" b="1">
                <a:solidFill>
                  <a:srgbClr val="087F8C"/>
                </a:solidFill>
                <a:latin typeface="Aptos"/>
              </a:defRPr>
            </a:pPr>
            <a:r>
              <a:t>CORRECTNESS CHECKS</a:t>
            </a:r>
          </a:p>
        </p:txBody>
      </p:sp>
      <p:sp>
        <p:nvSpPr>
          <p:cNvPr id="10" name="TextBox 9"/>
          <p:cNvSpPr txBox="1"/>
          <p:nvPr/>
        </p:nvSpPr>
        <p:spPr>
          <a:xfrm>
            <a:off x="7882128" y="2606040"/>
            <a:ext cx="3438144" cy="932688"/>
          </a:xfrm>
          <a:prstGeom prst="rect">
            <a:avLst/>
          </a:prstGeom>
          <a:noFill/>
        </p:spPr>
        <p:txBody>
          <a:bodyPr wrap="square">
            <a:spAutoFit/>
          </a:bodyPr>
          <a:lstStyle/>
          <a:p>
            <a:pPr>
              <a:spcAft>
                <a:spcPts val="1000"/>
              </a:spcAft>
              <a:defRPr sz="2000" b="0">
                <a:solidFill>
                  <a:srgbClr val="15243B"/>
                </a:solidFill>
                <a:latin typeface="Aptos"/>
              </a:defRPr>
            </a:pPr>
            <a:r>
              <a:t>16 basis mappings passed.</a:t>
            </a:r>
          </a:p>
          <a:p>
            <a:pPr>
              <a:spcAft>
                <a:spcPts val="1000"/>
              </a:spcAft>
              <a:defRPr sz="2000" b="0">
                <a:solidFill>
                  <a:srgbClr val="15243B"/>
                </a:solidFill>
                <a:latin typeface="Aptos"/>
              </a:defRPr>
            </a:pPr>
            <a:r>
              <a:t>4 unitarity checks passed.</a:t>
            </a:r>
          </a:p>
        </p:txBody>
      </p:sp>
      <p:sp>
        <p:nvSpPr>
          <p:cNvPr id="11" name="Rounded Rectangle 10"/>
          <p:cNvSpPr/>
          <p:nvPr/>
        </p:nvSpPr>
        <p:spPr>
          <a:xfrm>
            <a:off x="7680960" y="3794760"/>
            <a:ext cx="38404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82128" y="3959352"/>
            <a:ext cx="3438144" cy="457200"/>
          </a:xfrm>
          <a:prstGeom prst="rect">
            <a:avLst/>
          </a:prstGeom>
          <a:noFill/>
        </p:spPr>
        <p:txBody>
          <a:bodyPr wrap="square">
            <a:spAutoFit/>
          </a:bodyPr>
          <a:lstStyle/>
          <a:p>
            <a:pPr>
              <a:spcAft>
                <a:spcPts val="1000"/>
              </a:spcAft>
              <a:defRPr sz="2100" b="1">
                <a:solidFill>
                  <a:srgbClr val="2563EB"/>
                </a:solidFill>
                <a:latin typeface="Aptos"/>
              </a:defRPr>
            </a:pPr>
            <a:r>
              <a:t>NOISE FINDING</a:t>
            </a:r>
          </a:p>
        </p:txBody>
      </p:sp>
      <p:sp>
        <p:nvSpPr>
          <p:cNvPr id="13" name="TextBox 12"/>
          <p:cNvSpPr txBox="1"/>
          <p:nvPr/>
        </p:nvSpPr>
        <p:spPr>
          <a:xfrm>
            <a:off x="7882128" y="4617720"/>
            <a:ext cx="3438144" cy="1069848"/>
          </a:xfrm>
          <a:prstGeom prst="rect">
            <a:avLst/>
          </a:prstGeom>
          <a:noFill/>
        </p:spPr>
        <p:txBody>
          <a:bodyPr wrap="square">
            <a:spAutoFit/>
          </a:bodyPr>
          <a:lstStyle/>
          <a:p>
            <a:pPr>
              <a:spcAft>
                <a:spcPts val="1000"/>
              </a:spcAft>
              <a:defRPr sz="2000" b="0">
                <a:solidFill>
                  <a:srgbClr val="15243B"/>
                </a:solidFill>
                <a:latin typeface="Aptos"/>
              </a:defRPr>
            </a:pPr>
            <a:r>
              <a:t>Expected accuracy = 1 − p.</a:t>
            </a:r>
          </a:p>
          <a:p>
            <a:pPr>
              <a:spcAft>
                <a:spcPts val="1000"/>
              </a:spcAft>
              <a:defRPr sz="2000" b="0">
                <a:solidFill>
                  <a:srgbClr val="15243B"/>
                </a:solidFill>
                <a:latin typeface="Aptos"/>
              </a:defRPr>
            </a:pPr>
            <a:r>
              <a:t>Only measurement errors are modelled.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DEUTSCH’S ALGORITHM</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11. What the project demonstrates</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12</a:t>
            </a:r>
          </a:p>
        </p:txBody>
      </p:sp>
      <p:sp>
        <p:nvSpPr>
          <p:cNvPr id="7" name="Rounded Rectangle 6"/>
          <p:cNvSpPr/>
          <p:nvPr/>
        </p:nvSpPr>
        <p:spPr>
          <a:xfrm>
            <a:off x="594360" y="1737360"/>
            <a:ext cx="5349240" cy="3566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01952"/>
            <a:ext cx="4946903" cy="457200"/>
          </a:xfrm>
          <a:prstGeom prst="rect">
            <a:avLst/>
          </a:prstGeom>
          <a:noFill/>
        </p:spPr>
        <p:txBody>
          <a:bodyPr wrap="square">
            <a:spAutoFit/>
          </a:bodyPr>
          <a:lstStyle/>
          <a:p>
            <a:pPr>
              <a:spcAft>
                <a:spcPts val="1000"/>
              </a:spcAft>
              <a:defRPr sz="2100" b="1">
                <a:solidFill>
                  <a:srgbClr val="087F8C"/>
                </a:solidFill>
                <a:latin typeface="Aptos"/>
              </a:defRPr>
            </a:pPr>
            <a:r>
              <a:t>ACHIEVED</a:t>
            </a:r>
          </a:p>
        </p:txBody>
      </p:sp>
      <p:sp>
        <p:nvSpPr>
          <p:cNvPr id="9" name="TextBox 8"/>
          <p:cNvSpPr txBox="1"/>
          <p:nvPr/>
        </p:nvSpPr>
        <p:spPr>
          <a:xfrm>
            <a:off x="795528" y="2560320"/>
            <a:ext cx="4946903" cy="2670048"/>
          </a:xfrm>
          <a:prstGeom prst="rect">
            <a:avLst/>
          </a:prstGeom>
          <a:noFill/>
        </p:spPr>
        <p:txBody>
          <a:bodyPr wrap="square">
            <a:spAutoFit/>
          </a:bodyPr>
          <a:lstStyle/>
          <a:p>
            <a:pPr>
              <a:spcAft>
                <a:spcPts val="1000"/>
              </a:spcAft>
              <a:defRPr sz="2000" b="0">
                <a:solidFill>
                  <a:srgbClr val="15243B"/>
                </a:solidFill>
                <a:latin typeface="Aptos"/>
              </a:defRPr>
            </a:pPr>
            <a:r>
              <a:t>All four oracles implemented.</a:t>
            </a:r>
          </a:p>
          <a:p>
            <a:pPr>
              <a:spcAft>
                <a:spcPts val="1000"/>
              </a:spcAft>
              <a:defRPr sz="2000" b="0">
                <a:solidFill>
                  <a:srgbClr val="15243B"/>
                </a:solidFill>
                <a:latin typeface="Aptos"/>
              </a:defRPr>
            </a:pPr>
            <a:r>
              <a:t>One-query ideal classification.</a:t>
            </a:r>
          </a:p>
          <a:p>
            <a:pPr>
              <a:spcAft>
                <a:spcPts val="1000"/>
              </a:spcAft>
              <a:defRPr sz="2000" b="0">
                <a:solidFill>
                  <a:srgbClr val="15243B"/>
                </a:solidFill>
                <a:latin typeface="Aptos"/>
              </a:defRPr>
            </a:pPr>
            <a:r>
              <a:t>Theory agrees with simulation.</a:t>
            </a:r>
          </a:p>
          <a:p>
            <a:pPr>
              <a:spcAft>
                <a:spcPts val="1000"/>
              </a:spcAft>
              <a:defRPr sz="2000" b="0">
                <a:solidFill>
                  <a:srgbClr val="15243B"/>
                </a:solidFill>
                <a:latin typeface="Aptos"/>
              </a:defRPr>
            </a:pPr>
            <a:r>
              <a:t>Noise effects visualised.</a:t>
            </a:r>
          </a:p>
        </p:txBody>
      </p:sp>
      <p:sp>
        <p:nvSpPr>
          <p:cNvPr id="10" name="Rounded Rectangle 9"/>
          <p:cNvSpPr/>
          <p:nvPr/>
        </p:nvSpPr>
        <p:spPr>
          <a:xfrm>
            <a:off x="6199632" y="1737360"/>
            <a:ext cx="5349240" cy="3566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01952"/>
            <a:ext cx="4946903" cy="457200"/>
          </a:xfrm>
          <a:prstGeom prst="rect">
            <a:avLst/>
          </a:prstGeom>
          <a:noFill/>
        </p:spPr>
        <p:txBody>
          <a:bodyPr wrap="square">
            <a:spAutoFit/>
          </a:bodyPr>
          <a:lstStyle/>
          <a:p>
            <a:pPr>
              <a:spcAft>
                <a:spcPts val="1000"/>
              </a:spcAft>
              <a:defRPr sz="2100" b="1">
                <a:solidFill>
                  <a:srgbClr val="2563EB"/>
                </a:solidFill>
                <a:latin typeface="Aptos"/>
              </a:defRPr>
            </a:pPr>
            <a:r>
              <a:t>LIMITATIONS</a:t>
            </a:r>
          </a:p>
        </p:txBody>
      </p:sp>
      <p:sp>
        <p:nvSpPr>
          <p:cNvPr id="12" name="TextBox 11"/>
          <p:cNvSpPr txBox="1"/>
          <p:nvPr/>
        </p:nvSpPr>
        <p:spPr>
          <a:xfrm>
            <a:off x="6400800" y="2560320"/>
            <a:ext cx="4946903" cy="2670048"/>
          </a:xfrm>
          <a:prstGeom prst="rect">
            <a:avLst/>
          </a:prstGeom>
          <a:noFill/>
        </p:spPr>
        <p:txBody>
          <a:bodyPr wrap="square">
            <a:spAutoFit/>
          </a:bodyPr>
          <a:lstStyle/>
          <a:p>
            <a:pPr>
              <a:spcAft>
                <a:spcPts val="1000"/>
              </a:spcAft>
              <a:defRPr sz="2000" b="0">
                <a:solidFill>
                  <a:srgbClr val="15243B"/>
                </a:solidFill>
                <a:latin typeface="Aptos"/>
              </a:defRPr>
            </a:pPr>
            <a:r>
              <a:t>Simulated coherent sensor model.</a:t>
            </a:r>
          </a:p>
          <a:p>
            <a:pPr>
              <a:spcAft>
                <a:spcPts val="1000"/>
              </a:spcAft>
              <a:defRPr sz="2000" b="0">
                <a:solidFill>
                  <a:srgbClr val="15243B"/>
                </a:solidFill>
                <a:latin typeface="Aptos"/>
              </a:defRPr>
            </a:pPr>
            <a:r>
              <a:t>No physical sensor or hardware run.</a:t>
            </a:r>
          </a:p>
          <a:p>
            <a:pPr>
              <a:spcAft>
                <a:spcPts val="1000"/>
              </a:spcAft>
              <a:defRPr sz="2000" b="0">
                <a:solidFill>
                  <a:srgbClr val="15243B"/>
                </a:solidFill>
                <a:latin typeface="Aptos"/>
              </a:defRPr>
            </a:pPr>
            <a:r>
              <a:t>No gate-noise or decoherence model.</a:t>
            </a:r>
          </a:p>
          <a:p>
            <a:pPr>
              <a:spcAft>
                <a:spcPts val="1000"/>
              </a:spcAft>
              <a:defRPr sz="2000" b="0">
                <a:solidFill>
                  <a:srgbClr val="15243B"/>
                </a:solidFill>
                <a:latin typeface="Aptos"/>
              </a:defRPr>
            </a:pPr>
            <a:r>
              <a:t>No practical runtime-speedup claim.</a:t>
            </a:r>
          </a:p>
        </p:txBody>
      </p:sp>
      <p:sp>
        <p:nvSpPr>
          <p:cNvPr id="13" name="TextBox 12"/>
          <p:cNvSpPr txBox="1"/>
          <p:nvPr/>
        </p:nvSpPr>
        <p:spPr>
          <a:xfrm>
            <a:off x="731520" y="5623560"/>
            <a:ext cx="10698480" cy="365760"/>
          </a:xfrm>
          <a:prstGeom prst="rect">
            <a:avLst/>
          </a:prstGeom>
          <a:noFill/>
        </p:spPr>
        <p:txBody>
          <a:bodyPr wrap="square">
            <a:spAutoFit/>
          </a:bodyPr>
          <a:lstStyle/>
          <a:p>
            <a:pPr>
              <a:spcAft>
                <a:spcPts val="1000"/>
              </a:spcAft>
              <a:defRPr sz="2000" b="0">
                <a:solidFill>
                  <a:srgbClr val="526176"/>
                </a:solidFill>
                <a:latin typeface="Aptos"/>
              </a:defRPr>
            </a:pPr>
            <a:r>
              <a:t>Next step: test calibrated device noise and account for all repeated queries.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a:spAutoFit/>
          </a:bodyPr>
          <a:lstStyle/>
          <a:p>
            <a:pPr>
              <a:spcAft>
                <a:spcPts val="1000"/>
              </a:spcAft>
              <a:defRPr sz="1100" b="1">
                <a:solidFill>
                  <a:srgbClr val="087F8C"/>
                </a:solidFill>
                <a:latin typeface="Aptos"/>
              </a:defRPr>
            </a:pPr>
            <a:r>
              <a:t>DEUTSCH’S ALGORITHM</a:t>
            </a:r>
          </a:p>
        </p:txBody>
      </p:sp>
      <p:sp>
        <p:nvSpPr>
          <p:cNvPr id="4" name="TextBox 3"/>
          <p:cNvSpPr txBox="1"/>
          <p:nvPr/>
        </p:nvSpPr>
        <p:spPr>
          <a:xfrm>
            <a:off x="502920" y="749808"/>
            <a:ext cx="11155680" cy="731520"/>
          </a:xfrm>
          <a:prstGeom prst="rect">
            <a:avLst/>
          </a:prstGeom>
          <a:noFill/>
        </p:spPr>
        <p:txBody>
          <a:bodyPr wrap="square">
            <a:spAutoFit/>
          </a:bodyPr>
          <a:lstStyle/>
          <a:p>
            <a:pPr>
              <a:spcAft>
                <a:spcPts val="1000"/>
              </a:spcAft>
              <a:defRPr sz="3100" b="1">
                <a:solidFill>
                  <a:srgbClr val="15243B"/>
                </a:solidFill>
                <a:latin typeface="Aptos"/>
              </a:defRPr>
            </a:pPr>
            <a:r>
              <a:t>12. Closing summary and questions</a:t>
            </a:r>
          </a:p>
        </p:txBody>
      </p:sp>
      <p:sp>
        <p:nvSpPr>
          <p:cNvPr id="5" name="TextBox 4"/>
          <p:cNvSpPr txBox="1"/>
          <p:nvPr/>
        </p:nvSpPr>
        <p:spPr>
          <a:xfrm>
            <a:off x="530352" y="6473952"/>
            <a:ext cx="10058400" cy="201168"/>
          </a:xfrm>
          <a:prstGeom prst="rect">
            <a:avLst/>
          </a:prstGeom>
          <a:noFill/>
        </p:spPr>
        <p:txBody>
          <a:bodyPr wrap="square">
            <a:spAutoFit/>
          </a:bodyPr>
          <a:lstStyle/>
          <a:p>
            <a:pPr>
              <a:spcAft>
                <a:spcPts val="1000"/>
              </a:spcAft>
              <a:defRPr sz="1000" b="0">
                <a:solidFill>
                  <a:srgbClr val="526176"/>
                </a:solidFill>
                <a:latin typeface="Aptos"/>
              </a:defRPr>
            </a:pPr>
            <a:r>
              <a:t>Jeshurun Pon McGrath V  •  URK24CS9047  •  Quantum Computing</a:t>
            </a:r>
          </a:p>
        </p:txBody>
      </p:sp>
      <p:sp>
        <p:nvSpPr>
          <p:cNvPr id="6" name="TextBox 5"/>
          <p:cNvSpPr txBox="1"/>
          <p:nvPr/>
        </p:nvSpPr>
        <p:spPr>
          <a:xfrm>
            <a:off x="11064240" y="6428232"/>
            <a:ext cx="548640" cy="274320"/>
          </a:xfrm>
          <a:prstGeom prst="rect">
            <a:avLst/>
          </a:prstGeom>
          <a:noFill/>
        </p:spPr>
        <p:txBody>
          <a:bodyPr wrap="square">
            <a:spAutoFit/>
          </a:bodyPr>
          <a:lstStyle/>
          <a:p>
            <a:pPr>
              <a:spcAft>
                <a:spcPts val="1000"/>
              </a:spcAft>
              <a:defRPr sz="1200" b="0">
                <a:solidFill>
                  <a:srgbClr val="526176"/>
                </a:solidFill>
                <a:latin typeface="Aptos"/>
              </a:defRPr>
            </a:pPr>
            <a:r>
              <a:t>13</a:t>
            </a:r>
          </a:p>
        </p:txBody>
      </p:sp>
      <p:sp>
        <p:nvSpPr>
          <p:cNvPr id="7" name="TextBox 6"/>
          <p:cNvSpPr txBox="1"/>
          <p:nvPr/>
        </p:nvSpPr>
        <p:spPr>
          <a:xfrm>
            <a:off x="731520" y="1783080"/>
            <a:ext cx="10789920" cy="914400"/>
          </a:xfrm>
          <a:prstGeom prst="rect">
            <a:avLst/>
          </a:prstGeom>
          <a:noFill/>
        </p:spPr>
        <p:txBody>
          <a:bodyPr wrap="square">
            <a:spAutoFit/>
          </a:bodyPr>
          <a:lstStyle/>
          <a:p>
            <a:pPr>
              <a:spcAft>
                <a:spcPts val="1000"/>
              </a:spcAft>
              <a:defRPr sz="3200" b="1">
                <a:solidFill>
                  <a:srgbClr val="15243B"/>
                </a:solidFill>
                <a:latin typeface="Aptos"/>
              </a:defRPr>
            </a:pPr>
            <a:r>
              <a:t>“One coherent query reveals whether the</a:t>
            </a:r>
          </a:p>
          <a:p>
            <a:pPr>
              <a:spcAft>
                <a:spcPts val="1000"/>
              </a:spcAft>
              <a:defRPr sz="3200" b="1">
                <a:solidFill>
                  <a:srgbClr val="15243B"/>
                </a:solidFill>
                <a:latin typeface="Aptos"/>
              </a:defRPr>
            </a:pPr>
            <a:r>
              <a:t>sensor rule is constant or balanced.”</a:t>
            </a:r>
          </a:p>
        </p:txBody>
      </p:sp>
      <p:sp>
        <p:nvSpPr>
          <p:cNvPr id="8" name="Rounded Rectangle 7"/>
          <p:cNvSpPr/>
          <p:nvPr/>
        </p:nvSpPr>
        <p:spPr>
          <a:xfrm>
            <a:off x="731520" y="3200400"/>
            <a:ext cx="516636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3364992"/>
            <a:ext cx="4764024" cy="457200"/>
          </a:xfrm>
          <a:prstGeom prst="rect">
            <a:avLst/>
          </a:prstGeom>
          <a:noFill/>
        </p:spPr>
        <p:txBody>
          <a:bodyPr wrap="square">
            <a:spAutoFit/>
          </a:bodyPr>
          <a:lstStyle/>
          <a:p>
            <a:pPr>
              <a:spcAft>
                <a:spcPts val="1000"/>
              </a:spcAft>
              <a:defRPr sz="2100" b="1">
                <a:solidFill>
                  <a:srgbClr val="2563EB"/>
                </a:solidFill>
                <a:latin typeface="Aptos"/>
              </a:defRPr>
            </a:pPr>
            <a:r>
              <a:t>0 → FAULTY</a:t>
            </a:r>
          </a:p>
        </p:txBody>
      </p:sp>
      <p:sp>
        <p:nvSpPr>
          <p:cNvPr id="10" name="TextBox 9"/>
          <p:cNvSpPr txBox="1"/>
          <p:nvPr/>
        </p:nvSpPr>
        <p:spPr>
          <a:xfrm>
            <a:off x="932688" y="4023360"/>
            <a:ext cx="4764024" cy="521208"/>
          </a:xfrm>
          <a:prstGeom prst="rect">
            <a:avLst/>
          </a:prstGeom>
          <a:noFill/>
        </p:spPr>
        <p:txBody>
          <a:bodyPr wrap="square">
            <a:spAutoFit/>
          </a:bodyPr>
          <a:lstStyle/>
          <a:p>
            <a:pPr>
              <a:spcAft>
                <a:spcPts val="1000"/>
              </a:spcAft>
              <a:defRPr sz="2000" b="0">
                <a:solidFill>
                  <a:srgbClr val="15243B"/>
                </a:solidFill>
                <a:latin typeface="Aptos"/>
              </a:defRPr>
            </a:pPr>
            <a:r>
              <a:t>Constant rule</a:t>
            </a:r>
          </a:p>
        </p:txBody>
      </p:sp>
      <p:sp>
        <p:nvSpPr>
          <p:cNvPr id="11" name="Rounded Rectangle 10"/>
          <p:cNvSpPr/>
          <p:nvPr/>
        </p:nvSpPr>
        <p:spPr>
          <a:xfrm>
            <a:off x="6172200" y="3200400"/>
            <a:ext cx="516636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3364992"/>
            <a:ext cx="4764024" cy="457200"/>
          </a:xfrm>
          <a:prstGeom prst="rect">
            <a:avLst/>
          </a:prstGeom>
          <a:noFill/>
        </p:spPr>
        <p:txBody>
          <a:bodyPr wrap="square">
            <a:spAutoFit/>
          </a:bodyPr>
          <a:lstStyle/>
          <a:p>
            <a:pPr>
              <a:spcAft>
                <a:spcPts val="1000"/>
              </a:spcAft>
              <a:defRPr sz="2100" b="1">
                <a:solidFill>
                  <a:srgbClr val="087F8C"/>
                </a:solidFill>
                <a:latin typeface="Aptos"/>
              </a:defRPr>
            </a:pPr>
            <a:r>
              <a:t>1 → WORKING</a:t>
            </a:r>
          </a:p>
        </p:txBody>
      </p:sp>
      <p:sp>
        <p:nvSpPr>
          <p:cNvPr id="13" name="TextBox 12"/>
          <p:cNvSpPr txBox="1"/>
          <p:nvPr/>
        </p:nvSpPr>
        <p:spPr>
          <a:xfrm>
            <a:off x="6373368" y="4023360"/>
            <a:ext cx="4764024" cy="521208"/>
          </a:xfrm>
          <a:prstGeom prst="rect">
            <a:avLst/>
          </a:prstGeom>
          <a:noFill/>
        </p:spPr>
        <p:txBody>
          <a:bodyPr wrap="square">
            <a:spAutoFit/>
          </a:bodyPr>
          <a:lstStyle/>
          <a:p>
            <a:pPr>
              <a:spcAft>
                <a:spcPts val="1000"/>
              </a:spcAft>
              <a:defRPr sz="2000" b="0">
                <a:solidFill>
                  <a:srgbClr val="15243B"/>
                </a:solidFill>
                <a:latin typeface="Aptos"/>
              </a:defRPr>
            </a:pPr>
            <a:r>
              <a:t>Balanced rule</a:t>
            </a:r>
          </a:p>
        </p:txBody>
      </p:sp>
      <p:sp>
        <p:nvSpPr>
          <p:cNvPr id="14" name="TextBox 13"/>
          <p:cNvSpPr txBox="1"/>
          <p:nvPr/>
        </p:nvSpPr>
        <p:spPr>
          <a:xfrm>
            <a:off x="777240" y="4983480"/>
            <a:ext cx="10789920" cy="320040"/>
          </a:xfrm>
          <a:prstGeom prst="rect">
            <a:avLst/>
          </a:prstGeom>
          <a:noFill/>
        </p:spPr>
        <p:txBody>
          <a:bodyPr wrap="square">
            <a:spAutoFit/>
          </a:bodyPr>
          <a:lstStyle/>
          <a:p>
            <a:pPr>
              <a:spcAft>
                <a:spcPts val="1000"/>
              </a:spcAft>
              <a:defRPr sz="1800" b="0">
                <a:solidFill>
                  <a:srgbClr val="2563EB"/>
                </a:solidFill>
                <a:latin typeface="Aptos"/>
              </a:defRPr>
            </a:pPr>
            <a:r>
              <a:t>Project: github.com/Jeshurun-Pon-Mcgrath/Jeshurun_QC</a:t>
            </a:r>
          </a:p>
        </p:txBody>
      </p:sp>
      <p:sp>
        <p:nvSpPr>
          <p:cNvPr id="15" name="TextBox 14"/>
          <p:cNvSpPr txBox="1"/>
          <p:nvPr/>
        </p:nvSpPr>
        <p:spPr>
          <a:xfrm>
            <a:off x="777240" y="5504688"/>
            <a:ext cx="10789920" cy="640080"/>
          </a:xfrm>
          <a:prstGeom prst="rect">
            <a:avLst/>
          </a:prstGeom>
          <a:noFill/>
        </p:spPr>
        <p:txBody>
          <a:bodyPr wrap="square">
            <a:spAutoFit/>
          </a:bodyPr>
          <a:lstStyle/>
          <a:p>
            <a:pPr>
              <a:spcAft>
                <a:spcPts val="1000"/>
              </a:spcAft>
              <a:defRPr sz="1300" b="0">
                <a:solidFill>
                  <a:srgbClr val="526176"/>
                </a:solidFill>
                <a:latin typeface="Aptos"/>
              </a:defRPr>
            </a:pPr>
            <a:r>
              <a:t>References: Deutsch (1985), doi:10.1098/rspa.1985.0070; IBM Quantum learning;</a:t>
            </a:r>
          </a:p>
          <a:p>
            <a:pPr>
              <a:spcAft>
                <a:spcPts val="1000"/>
              </a:spcAft>
              <a:defRPr sz="1300" b="0">
                <a:solidFill>
                  <a:srgbClr val="526176"/>
                </a:solidFill>
                <a:latin typeface="Aptos"/>
              </a:defRPr>
            </a:pPr>
            <a:r>
              <a:t>Qiskit QuantumCircuit documentation; Qiskit Aer ReadoutError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Sensor Fault Detection using Deutsch’s Algorithm</dc:title>
  <dc:subject>Problem statement, methodology, architecture, implementation and results</dc:subject>
  <dc:creator>Jeshurun Pon McGrath V</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